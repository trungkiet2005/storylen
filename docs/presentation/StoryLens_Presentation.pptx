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YOLOv8</c:v>
                </c:pt>
              </c:strCache>
            </c:strRef>
          </c:tx>
          <c:spPr>
            <a:solidFill>
              <a:srgbClr val="D0311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915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031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mAP@.5</c:v>
                  </c:pt>
                  <c:pt idx="1">
                    <c:v>mAP@.5:.95</c:v>
                  </c:pt>
                  <c:pt idx="2">
                    <c:v>Precision</c:v>
                  </c:pt>
                  <c:pt idx="3">
                    <c:v>Recall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95.3</c:v>
                </c:pt>
                <c:pt idx="1">
                  <c:v>84.4</c:v>
                </c:pt>
                <c:pt idx="2">
                  <c:v>97.3</c:v>
                </c:pt>
                <c:pt idx="3">
                  <c:v>93.8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1915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9151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mở đầu. Giới thiệu tên sản phẩm StoryLens, một câu định vị, môn học/GVHD/nhóm 1 (6 thành viên).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Trình bày 7 phần theo đúng thứ tự PA5 trong ~15 phút (gồm demo), sau đó 10 phút Q&amp;A. Phần IV và V là trọng tâm kỹ thuật; phần demo nằm trong VI. Mỗi thành viên trình bày ít nhất một phần (≥ 3 phút/người).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điểm đau chính: fan-sub chậm, dịch mất ngữ cảnh, không hỏi được nội dung. Dẫn sang giải pháp.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Tuyên ngôn định vị theo mẫu Vision. Bốn trụ giá trị: dịch ngữ cảnh, đọc overlay, RAG Q&amp;A, cộng đồng.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so sánh nhanh. Hàng StoryLens tô đỏ để nổi bật. Nhấn: chỉ StoryLens có cả overlay lẫn RAG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persona từ tài liệu Vision. Nhấn mạnh nhu cầu chung: dịch chính xác + hỏi được nội 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Quy trình theo RUP rút gọn + Scrum (LN03b). Bảng bên phải là mẫu vai trò theo RUP; phân công thực tế cho 6 thành viên ở slide kế tiếp.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Cơ cấu nhóm phẳng, 6 thành viên. PA5 yêu cầu nêu rõ team structure + trách nhiệm từng người: mỗi bạn phụ trách một mảng (PM/AI-OCR, AI-OCR, Backend, AI-RAG, Frontend, QA/BA) và ai cũng trình bày một phần khi bảo vệ.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sẽ tập trung UC01+UC02 (luồng A) và UC03 (luồng B) — đủ yêu cầu ≥2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 use case: Người đọc dùng UC01–UC05; Quản trị viên dùng UC06; AI Module + Gemini là tác nhân phụ hỗ trợ dịch (UC01) và Q&amp;A (UC04). Demo bao phủ UC01+UC02 (luồng A) và UC03 (luồng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nhóm yêu cầu chức năng theo SRS. F03 (pipeline AI) và F05 (RAG) là lõi AI của hệ thống.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NFR chia 2 nhóm: bảo mật và vận hành/toàn vẹn. Bốn con số hiệu năng ở trên là mục tiêu đã đặt trong SRS.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Kiến trúc microservice + phân tầng. Backend nhẹ (Render free) tách khỏi AI Module nặng (HF Spaces). Supabase là state dùng chung.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6 bước chạy trong luồng nền có semaphore. Có fallback M2M100/NLLB nếu Gemini lỗi. Render dùng binary-search cỡ chữ để vừa bbox.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RAG: embedding → tìm pgvector → Gemini sinh câu trả lời kèm nguồn. Mỗi câu trả lời thành công trừ 1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Mode: VLM (qwen2.5vl qua ollama) dệt hội thoại đã dịch thành kịch bản kể chuyện, TTS pluggable (edge/pyttsx3/coqui) đọc thành audio, ffmpeg dựng thành video recap .mp4 cho cả chương. Có fallback dialogue nếu VLM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 đầy đủ 3 dịch vụ + dữ liệu. Nhấn: mọi thứ chạy trên tier miễn phí/rẻ nhưng vẫn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Bảo mật nhiều lớp: xác thực cookie, RBAC+RLS, rate-limit+captcha, CSP, kiểm tra upload, chống SSRF.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nền tảng độc lập, auto-deploy từ main. Có keep-alive, health check, giám sát và backup PITR.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quả ML thật đưa vào SAD mục 7.5. YOLOv8 mAP@0.5 95.3% và OCR CER 6.1% đều vượt ngưỡng. Gemini đánh giá bằng human-in-the-loop.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Kiểm thử đa tầng + CI 5 job song song. Katalon Studio là công cụ kiểm thử tự động bắt buộc của PA5: tối thiểu 2 use case (UC01, UC02), mỗi use case ≥ 2 scenario, báo cáo Pass/Fail kèm test script. Định nghĩa 'done' gồm review, test pass, deploy &amp; verify trên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Hệ sinh thái quanh lõi dịch: reader, QC, thư viện, cộng đồng, gamification, thanh toán. Cho thấy quy mô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trang chủ và trang upload. Khi demo: đăng nhập tài khoản demo, kéo-thả 1 trang, chờ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Reader có overlay dịch và màn Studio QC. Cần AI Module sống để có bản dịch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batch upload + tiến trình, Q&amp;A, thư viện công khai và admin. Đây là luồng B (UC03) + RAG (UC04).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màn hình đặt câu hỏi và kết quả trả lời có nguồn trích. Cần embeddings đã có sẵn cho trang/series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Chụp Listen Mode drawer và video recap đã xuất. Cần VLM/TTS đang chạy để có audio thật, nếu không sẽ dùng fallback dialogue.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Trung thực về hạn chế: cold start, quota, OCR SFX, bố cục chữ dài — và các lỗi đang xử lý. Cho thấy sự chín chắn kỹ thuật.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OCR/dịch tốt hơn, RTL, giảm cold start, cá nhân hoá, bản quyền,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Chốt lại: sản phẩm AI hoàn chỉnh chạy thật, kỹ thuật production, áp dụng đúng quy trình CNPM. Nhấn 4 con số.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cảm ơn + Q&amp;A. Sẵn sàng demo trực tiếp nếu Thầy yêu cầu. Nhớ đánh thức AI Module trước khi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566928"/>
            <a:ext cx="384048" cy="384048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4" name="Shape 2"/>
          <p:cNvSpPr/>
          <p:nvPr/>
        </p:nvSpPr>
        <p:spPr>
          <a:xfrm>
            <a:off x="10396728" y="649224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10314432" y="566928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" name="Image 0" descr="assets/hcmu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36" y="809262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960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ĐỒ ÁN CUỐI KỲ · PA5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3258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8200" dirty="0"/>
          </a:p>
        </p:txBody>
      </p:sp>
      <p:sp>
        <p:nvSpPr>
          <p:cNvPr id="9" name="Shape 6"/>
          <p:cNvSpPr/>
          <p:nvPr/>
        </p:nvSpPr>
        <p:spPr>
          <a:xfrm>
            <a:off x="1024128" y="2798064"/>
            <a:ext cx="768096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9260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AI dịch &amp; hỏi–đáp Manga theo ngữ cảnh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005840" y="34564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phát hiện · đọc · xoá nền · dịch bong bóng thoại (Nhật/Trung → Việt) → đọc overlay + RAG Q&amp;A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10058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MÔN HỌC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058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CSC10011 — CNPM cho hệ thống AI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35204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3520440" y="4855464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GS.TS Nguyễn Văn Vũ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Trương Phước Lộc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ThS. Ngô Ngọc Đăng Khoa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0350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0350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StoryLens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549640" y="461772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 BÁO CÁO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549640" y="485546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10/07/2026 · HCMUS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05840" y="580644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viên: Đào Sỹ Duy Minh · Nguyễn Đình Hà Dương · Huỳnh Trung Kiệt · Phạm Phú Hòa · Trần Chí Nguyên · Nguyễn Lâm Phú Quý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005840" y="6144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1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  ·  Next.js 16 · FastAPI · HuggingFace Spaces · Supabase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TRÌNH BÀY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7282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1737360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69494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16736" y="1737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cảnh, định vị &amp; người dùng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687568" y="17373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 đề · tuyên ngôn định vị (Vision) · thị trường/persona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24140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2350008"/>
            <a:ext cx="11027664" cy="6035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4231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16736" y="2423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dự án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87568" y="24231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cấu nhóm · trách nhiệm từng thành viên · quy trình RUP + Scrum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" y="30998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358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944" y="31089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16736" y="3108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Yêu cầu phần mềm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687568" y="31089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use case (sơ đồ + luồng) · yêu cầu phi chức năng (NFR)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" y="37856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721608"/>
            <a:ext cx="11027664" cy="6035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944" y="37947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16736" y="37947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&amp; Thiết kế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687568" y="37947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3 dịch vụ · pipeline AI · RAG · công nghệ sử dụng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" y="44714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" y="44074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4944" y="44805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316736" y="4480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687568" y="44805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huấn luyện mô hình ML · kiểm thử tự động (Katalon) &amp; CI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0936" y="51572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566928" y="5093208"/>
            <a:ext cx="11027664" cy="6035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94944" y="51663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7" name="Text 35"/>
          <p:cNvSpPr/>
          <p:nvPr/>
        </p:nvSpPr>
        <p:spPr>
          <a:xfrm>
            <a:off x="694944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316736" y="5166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5687568" y="51663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năng nổi bật · demo trực tiếp các use case chính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0936" y="5843016"/>
            <a:ext cx="11027664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66928" y="5779008"/>
            <a:ext cx="11027664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94944" y="5852160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3" name="Text 41"/>
          <p:cNvSpPr/>
          <p:nvPr/>
        </p:nvSpPr>
        <p:spPr>
          <a:xfrm>
            <a:off x="694944" y="5852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316736" y="5852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5687568" y="5852160"/>
            <a:ext cx="5724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· lỗi đã biết · hướng phát triển · tổng kết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31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BỐI CẢNH &amp;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đề: đọc manga gốc vẫn còn nhiều rào cản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11027664" cy="12344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11027664" cy="123444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783080"/>
            <a:ext cx="10387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“Thiếu một nền tảng dịch manga tự động có AI hiểu ngữ cảnh và hỏi–đáp thông minh.”</a:t>
            </a:r>
            <a:endParaRPr lang="en-US" sz="2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hưởng tới cộng đồng đọc manga Việt Nam (15–28 tuổi) muốn tiếp cận truyện chất lượng cao chưa có bản dịch.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30936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Fan-sub chậm &amp; không đều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cộng đồng ra chậm, chất lượng phụ thuộc nhóm dịch, dễ bỏ dở giữa chừng.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98264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Shape 12"/>
          <p:cNvSpPr/>
          <p:nvPr/>
        </p:nvSpPr>
        <p:spPr>
          <a:xfrm>
            <a:off x="4334256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6" name="Text 14"/>
          <p:cNvSpPr/>
          <p:nvPr/>
        </p:nvSpPr>
        <p:spPr>
          <a:xfrm>
            <a:off x="459028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dịch mất ngữ cảnh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90288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Lens / dịch từng câu không giữ được xưng hô, mạch truyện, sắc thái nhân vật.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65592" y="3374136"/>
            <a:ext cx="3493008" cy="23317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8101584" y="3310128"/>
            <a:ext cx="3493008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2" name="Text 20"/>
          <p:cNvSpPr/>
          <p:nvPr/>
        </p:nvSpPr>
        <p:spPr>
          <a:xfrm>
            <a:off x="8357616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57616" y="4224528"/>
            <a:ext cx="2980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thể hỏi về nội dung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357616" y="4791456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 muốn hỏi “nhân vật này là ai?” nhưng không có kênh tra cứu tức thời.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31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GIẢI PHÁP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— dịch có ngữ cảnh + hỏi–đáp RAG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6126480" cy="429768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6126480" cy="429768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011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TUYÊN NGÔN ĐỊNH VỊ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86968" y="23317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 manga Việt (15–28 tuổi)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muốn đọc truyện Nhật chưa có bản dịch chính thức,
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 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phép tải trang truyện lên,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dịch sang tiếng Việt có ngữ cảnh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</a:t>
            </a:r>
            <a:pPr indent="0" marL="0">
              <a:lnSpc>
                <a:spcPct val="102000"/>
              </a:lnSpc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AI bất kỳ điều gì về nội dung</a:t>
            </a:r>
            <a:pPr indent="0" marL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2976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 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duy nhất kết hợp dịch theo ngữ cảnh + RAG Q&amp;A cho manga tiếng Việt — hiểu toàn bộ câu chuyện, không chỉ từng câu rời rạc.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04888" y="1847088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7040880" y="1783080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2" name="Text 10"/>
          <p:cNvSpPr/>
          <p:nvPr/>
        </p:nvSpPr>
        <p:spPr>
          <a:xfrm>
            <a:off x="7187184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909560" y="1911096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giữ ngữ cảnh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09560" y="2240280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Xưng hô, mạch truyện &amp; sắc thái được Gemini xử lý theo cả trang.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04888" y="2971800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6" name="Shape 14"/>
          <p:cNvSpPr/>
          <p:nvPr/>
        </p:nvSpPr>
        <p:spPr>
          <a:xfrm>
            <a:off x="7040880" y="2907792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8" name="Text 16"/>
          <p:cNvSpPr/>
          <p:nvPr/>
        </p:nvSpPr>
        <p:spPr>
          <a:xfrm>
            <a:off x="7187184" y="3136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909560" y="3035808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 liền mạch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09560" y="3364992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đúng bong bóng; bật/tắt so sánh bản gốc.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04888" y="4096512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2" name="Shape 20"/>
          <p:cNvSpPr/>
          <p:nvPr/>
        </p:nvSpPr>
        <p:spPr>
          <a:xfrm>
            <a:off x="7040880" y="4032504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4" name="Text 22"/>
          <p:cNvSpPr/>
          <p:nvPr/>
        </p:nvSpPr>
        <p:spPr>
          <a:xfrm>
            <a:off x="7187184" y="4261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909560" y="4160520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909560" y="4489704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dung, AI trả lời kèm nguồn trích.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04888" y="5221224"/>
            <a:ext cx="4553712" cy="1005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8" name="Shape 26"/>
          <p:cNvSpPr/>
          <p:nvPr/>
        </p:nvSpPr>
        <p:spPr>
          <a:xfrm>
            <a:off x="7040880" y="5157216"/>
            <a:ext cx="4553712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Text 28"/>
          <p:cNvSpPr/>
          <p:nvPr/>
        </p:nvSpPr>
        <p:spPr>
          <a:xfrm>
            <a:off x="7187184" y="5385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909560" y="5285232"/>
            <a:ext cx="3547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 &amp; thư viện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909560" y="5614416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chương, chia sẻ link, diễn đàn, bình luận.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31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ĐỊNH VỊ CẠNH TRANH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các lựa chọn hiện có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11027664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737360"/>
                <a:gridCol w="2148840"/>
                <a:gridCol w="2148840"/>
                <a:gridCol w="1700784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Giải pháp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Dịch 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Hiểu ngữ cảnh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Hỏi–đáp 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Đọc overlay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Lens / OCR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DeepL · ChatGPT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Một phần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 realtime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Fan-sub thủ công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Thủ công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Không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Ảnh dịch sẵn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StoryLens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Tự động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(cả trang)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 (RAG)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915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311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1792" y="5861304"/>
            <a:ext cx="11027664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6" name="Shape 3"/>
          <p:cNvSpPr/>
          <p:nvPr/>
        </p:nvSpPr>
        <p:spPr>
          <a:xfrm>
            <a:off x="566928" y="5806440"/>
            <a:ext cx="11027664" cy="65836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6968" y="5806440"/>
            <a:ext cx="10387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học được →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hợp tốc độ tự động của máy + độ chính xác giữ ngữ cảnh của người, cộng thêm khả năng hỏi–đáp mà chưa đối thủ nào có.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31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NGƯỜI DÙNG MỤC TIÊU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nhóm người dùng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 đại học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Text 7"/>
          <p:cNvSpPr/>
          <p:nvPr/>
        </p:nvSpPr>
        <p:spPr>
          <a:xfrm>
            <a:off x="3008376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18–25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manga Nhật, kiểm tra bản dịch, tìm hiểu nội dung sâu.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chính xác; AI trả lời chi tiết về nhân vật &amp; cốt truyện.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4334256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4256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4590288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sinh THPT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6775704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15–18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90288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90288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truyện mới, thảo luận với bạn bè, nắm nhanh nội dung.</a:t>
            </a:r>
            <a:endParaRPr lang="en-US" sz="1280" dirty="0"/>
          </a:p>
        </p:txBody>
      </p:sp>
      <p:sp>
        <p:nvSpPr>
          <p:cNvPr id="22" name="Text 20"/>
          <p:cNvSpPr/>
          <p:nvPr/>
        </p:nvSpPr>
        <p:spPr>
          <a:xfrm>
            <a:off x="4590288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90288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dễ dùng, dịch nhanh, hỏi được về cốt truyện.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8165592" y="1874520"/>
            <a:ext cx="3493008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01584" y="1810512"/>
            <a:ext cx="3493008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01584" y="1810512"/>
            <a:ext cx="3493008" cy="8229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7" name="Text 25"/>
          <p:cNvSpPr/>
          <p:nvPr/>
        </p:nvSpPr>
        <p:spPr>
          <a:xfrm>
            <a:off x="8357616" y="1938528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creator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Text 27"/>
          <p:cNvSpPr/>
          <p:nvPr/>
        </p:nvSpPr>
        <p:spPr>
          <a:xfrm>
            <a:off x="10543032" y="19933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57616" y="283464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57616" y="3090672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video review manga, giải thích plot cho khán giả.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8357616" y="4297680"/>
            <a:ext cx="2980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 ĐỢI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57616" y="4553712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chi tiết, batch cả chương, sẵn sàng trả phí premium.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31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QUẢN LÝ DỰ 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RUP rút gọn + Scrum theo sprint 2 tuần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Inception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Vision, kế hoạch, weekly 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7754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4271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337870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158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6158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158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kiến trúc, UI prototype, test plan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8932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5449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0488" y="1810512"/>
            <a:ext cx="2592324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7336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7336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test case, defect, báo cáo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801100" y="2496312"/>
            <a:ext cx="18288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66276" y="1874520"/>
            <a:ext cx="2592324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02268" y="1810512"/>
            <a:ext cx="2592324" cy="137160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85148" y="1956816"/>
            <a:ext cx="22265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185148" y="2194560"/>
            <a:ext cx="22265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85148" y="2578608"/>
            <a:ext cx="22265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 khai, demo, nộp bài cuối kỳ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" y="3465576"/>
            <a:ext cx="5212080" cy="27432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Shape 26"/>
          <p:cNvSpPr/>
          <p:nvPr/>
        </p:nvSpPr>
        <p:spPr>
          <a:xfrm>
            <a:off x="566928" y="3401568"/>
            <a:ext cx="5212080" cy="274320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SCRUM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9536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làm gì từ tuần trước?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 gặp vướng mắc gì?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Tuần tới sẽ hoàn thành gì?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" y="54864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= 2 tuần · PR review trước khi merge · CI xanh mới nộp.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053328" y="3465576"/>
            <a:ext cx="5605272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989320" y="3401568"/>
            <a:ext cx="560527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3611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TRÒ THEO RUP (mẫu)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4014216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Text 34"/>
          <p:cNvSpPr/>
          <p:nvPr/>
        </p:nvSpPr>
        <p:spPr>
          <a:xfrm>
            <a:off x="6419088" y="39776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 / PM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686800" y="3977640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 hoạch, phân công, weekly report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17920" y="4434840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9" name="Text 37"/>
          <p:cNvSpPr/>
          <p:nvPr/>
        </p:nvSpPr>
        <p:spPr>
          <a:xfrm>
            <a:off x="6419088" y="43982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686800" y="4398264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&amp; rà soát yêu cầu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17920" y="4855464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2" name="Text 40"/>
          <p:cNvSpPr/>
          <p:nvPr/>
        </p:nvSpPr>
        <p:spPr>
          <a:xfrm>
            <a:off x="6419088" y="48188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8686800" y="4818888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trúc, UI, tài liệu SAD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0" y="5276088"/>
            <a:ext cx="109728" cy="2743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5" name="Text 43"/>
          <p:cNvSpPr/>
          <p:nvPr/>
        </p:nvSpPr>
        <p:spPr>
          <a:xfrm>
            <a:off x="6419088" y="523951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Implementer ×3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686800" y="523951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unit test, review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17920" y="5696712"/>
            <a:ext cx="109728" cy="274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8" name="Text 46"/>
          <p:cNvSpPr/>
          <p:nvPr/>
        </p:nvSpPr>
        <p:spPr>
          <a:xfrm>
            <a:off x="6419088" y="56601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Tester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686800" y="5660136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plan, test case, system test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31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QUẢN LÝ DỰ 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cấu nhóm &amp; phân công công việc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6 thành viên · mô hình phẳng (flat team) —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cấp bậc cứng nhắc; mọi quyết định kỹ thuật quan trọng được thảo luận tập thể.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103120"/>
          <a:ext cx="11027664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965960"/>
                <a:gridCol w="2331720"/>
                <a:gridCol w="5632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MSSV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 và tên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Vai trò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Trách nhiệm chính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51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Đào Sỹ Duy Minh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Manager &amp; AI/ML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Quản lý tiến độ, điều phối nhóm · Fine-tune OCR cho manga tiếng Nhật · Prompt engineering cho dịch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Đình Hà Dương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031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(OCR)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Chuẩn bị &amp; xử lý dataset manga · Hỗ trợ fine-tune OCR · Đánh giá accuracy, phân tích lỗi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Huỳnh Trung Kiệt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15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backend · Thiết kế cơ sở dữ liệu · Tích hợp pipeline OCR/dịch vào server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Phạm Phú Hòa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Engineer (RAG)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Tích hợp LLM (Gemini) · Vector database (pgvector) · Pipeline hỏi–đáp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Trần Chí Nguyên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85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Giao diện Next.js/React (UI-UX) · Upload &amp; Reader · Màn hình hỏi–đáp Q&amp;A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E66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23122048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915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Nguyễn Lâm Phú Quý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0A3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 &amp; Business Analyst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Tài liệu (SDP, Vision, Use case) · Test case &amp; test plan · UAT, kiểm thử end-to-end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0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31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LUỒNG NGHIỆP VỤ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use case chính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1170432" cy="12801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938528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&amp; Dịch trang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938528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Tải 1 trang → pipeline AI phát hiện, đọc, xoá nền, dịch, render chữ Việt.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73368" y="1874520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1810512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810512"/>
            <a:ext cx="11704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975104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309360" y="25603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680960" y="1975104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overlay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680960" y="2377440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 bản dịch phủ bong bóng; bật/tắt, copy, từ điển bong bóng, nhiều chế độ đọc.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218688"/>
            <a:ext cx="1170432" cy="128016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6928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938528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938528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nhiều trang → xử lý tuần tự, tiến trình realtime qua WebSocket.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73368" y="3282696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218688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9360" y="3218688"/>
            <a:ext cx="1170432" cy="128016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3832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309360" y="396849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680960" y="3383280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nội dung; tìm ngữ nghĩa trong pgvector + Gemini trả lời.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4626864"/>
            <a:ext cx="1170432" cy="12801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566928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938528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Xuất bản &amp; chia sẻ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1938528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chương lên thư viện công khai; chia sẻ link có hạn (TTL).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73368" y="4690872"/>
            <a:ext cx="5285232" cy="12801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6309360" y="4626864"/>
            <a:ext cx="5285232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09360" y="4626864"/>
            <a:ext cx="1170432" cy="128016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6309360" y="4791456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6309360" y="537667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680960" y="4791456"/>
            <a:ext cx="3730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(Admin)</a:t>
            </a:r>
            <a:endParaRPr lang="en-US" sz="1550" dirty="0"/>
          </a:p>
        </p:txBody>
      </p:sp>
      <p:sp>
        <p:nvSpPr>
          <p:cNvPr id="45" name="Text 43"/>
          <p:cNvSpPr/>
          <p:nvPr/>
        </p:nvSpPr>
        <p:spPr>
          <a:xfrm>
            <a:off x="7680960" y="5193792"/>
            <a:ext cx="37124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kiểm duyệt, giám sát sức khoẻ, cấu hình nguồn AI Module.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31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MÔ HÌNH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Sơ đồ use case tổng quát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898648" y="1874520"/>
            <a:ext cx="5943600" cy="42245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2834640" y="1810512"/>
            <a:ext cx="5943600" cy="422452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4640" y="190195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 StoryLens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572768" y="2697480"/>
            <a:ext cx="1664208" cy="941832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72768" y="3639312"/>
            <a:ext cx="1664208" cy="2926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72768" y="3639312"/>
            <a:ext cx="1664208" cy="152704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72768" y="2697480"/>
            <a:ext cx="4224528" cy="941832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2768" y="3639312"/>
            <a:ext cx="4224528" cy="292608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375904" y="5029200"/>
            <a:ext cx="1426464" cy="137160"/>
          </a:xfrm>
          <a:prstGeom prst="line">
            <a:avLst/>
          </a:prstGeom>
          <a:noFill/>
          <a:ln w="15875">
            <a:solidFill>
              <a:srgbClr val="B8AFA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75904" y="2697480"/>
            <a:ext cx="676656" cy="91440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8375904" y="3154680"/>
            <a:ext cx="676656" cy="777240"/>
          </a:xfrm>
          <a:prstGeom prst="line">
            <a:avLst/>
          </a:prstGeom>
          <a:noFill/>
          <a:ln w="15875">
            <a:solidFill>
              <a:srgbClr val="9A7B3A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3236976" y="232257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28416" y="232257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UC02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overlay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36976" y="355701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85B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28416" y="355701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UC03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36976" y="479145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A3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28416" y="479145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UC05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&amp; chia sẻ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97296" y="232257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031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88736" y="232257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UC01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Dịch trang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97296" y="355701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88736" y="355701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UC04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Hỏi–đáp RAG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97296" y="4791456"/>
            <a:ext cx="2578608" cy="74980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332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88736" y="4791456"/>
            <a:ext cx="2395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3A3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UC06  </a:t>
            </a:r>
            <a:pPr algn="ctr" indent="0" marL="0">
              <a:lnSpc>
                <a:spcPct val="90000"/>
              </a:lnSpc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trị hệ thống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243584" y="306324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9151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71600" y="3319272"/>
            <a:ext cx="0" cy="475488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7280" y="3465576"/>
            <a:ext cx="5486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152144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71600" y="3794760"/>
            <a:ext cx="219456" cy="329184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đọc</a:t>
            </a:r>
            <a:endParaRPr lang="en-US" sz="11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(User)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838944" y="4297680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E241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966960" y="4553712"/>
            <a:ext cx="0" cy="475488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92640" y="4700016"/>
            <a:ext cx="548640" cy="0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747504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66960" y="5029200"/>
            <a:ext cx="219456" cy="329184"/>
          </a:xfrm>
          <a:prstGeom prst="line">
            <a:avLst/>
          </a:prstGeom>
          <a:noFill/>
          <a:ln w="25400">
            <a:solidFill>
              <a:srgbClr val="9E241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0" y="5394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 viên</a:t>
            </a:r>
            <a:endParaRPr lang="en-US" sz="11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(Admin)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42832" y="2487168"/>
            <a:ext cx="1828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«hệ phụ»
</a:t>
            </a:r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+ Gemini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66928" y="614476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chính: </a:t>
            </a:r>
            <a:pPr algn="ctr" indent="0" marL="0"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đọc, Quản trị viên.   </a:t>
            </a:r>
            <a:pPr algn="ctr" indent="0" marL="0">
              <a:buNone/>
            </a:pPr>
            <a:r>
              <a:rPr lang="en-US" sz="1100" b="1" dirty="0">
                <a:solidFill>
                  <a:srgbClr val="9A7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 nhân phụ: </a:t>
            </a:r>
            <a:pPr algn="ctr" indent="0" marL="0">
              <a:buNone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Module + Gemini (hỗ trợ UC01 dịch &amp; UC04 Q&amp;A).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31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YÊU CẦU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nhóm yêu cầu chức năng (F01–F09)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18488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 &amp; hồ sơ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ký/đăng nhập, cookie HttpOnly, avatar, đổi mật khẩu/email, GDPR.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2168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783080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9328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79720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ảnh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29328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ảnh hoặc batch; kiểm tra định dạng/kích thước; gắn series/chapter.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3400" y="1847088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783080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90560" y="192938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0952" y="1929384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AI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90560" y="2350008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OCR → inpaint → dịch → embedding; trạng thái &amp; % tiến trình.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618488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&amp; overlay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68096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Xem/so sánh bản dịch, sửa bản dịch per-bubble, lịch sử hiệu đính.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92168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227832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9328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79720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RAG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9328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theo trang/series; tìm ngữ nghĩa; trả lời kèm nguồn trích.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53400" y="3291840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227832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0560" y="337413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0952" y="3374136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&amp; chapter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290560" y="3794760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series/chương, gán &amp; sắp thứ tự trang, ảnh bìa tự động.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0936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566928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618488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Lịch sử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68096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 sách trang/series đã xử lý, lọc &amp; phân trang, tiếp tục đọc.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392168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4328160" y="4672584"/>
            <a:ext cx="3505200" cy="1298448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9328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F08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379720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gói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4529328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ledger giao dịch; Stripe.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153400" y="4736592"/>
            <a:ext cx="3505200" cy="12984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5" name="Shape 43"/>
          <p:cNvSpPr/>
          <p:nvPr/>
        </p:nvSpPr>
        <p:spPr>
          <a:xfrm>
            <a:off x="8089392" y="4672584"/>
            <a:ext cx="3505200" cy="12984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90560" y="4818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F09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0952" y="4818888"/>
            <a:ext cx="2270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trị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8290560" y="5239512"/>
            <a:ext cx="31028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tích, quản lý người dùng, kiểm duyệt, sức khoẻ, cấu hình, audit.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31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YÊU CẦU PHI CHỨC NĂNG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lượng: hiệu năng, bảo mật, sẵn sàng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giây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Phản hồi UI tương tác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56432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3392424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5304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 giây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75304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 lý AI mỗi trang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0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 giây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0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 Q&amp;A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07424" y="1874520"/>
            <a:ext cx="2551176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9043416" y="1810512"/>
            <a:ext cx="2551176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26296" y="2011680"/>
            <a:ext cx="2185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ảnh → 100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226296" y="263347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theo gói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364992"/>
            <a:ext cx="5285232" cy="278892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3639312"/>
            <a:ext cx="146304" cy="38404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3" name="Text 21"/>
          <p:cNvSpPr/>
          <p:nvPr/>
        </p:nvSpPr>
        <p:spPr>
          <a:xfrm>
            <a:off x="1078992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mật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41248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— không lộ token cho JS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+ RLS trên Supabase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Rate-limit, validate input, không hardcode secret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chặt, captcha Turnstile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6373368" y="3429000"/>
            <a:ext cx="5285232" cy="27889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3364992"/>
            <a:ext cx="5285232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5392" y="3639312"/>
            <a:ext cx="146304" cy="38404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6821424" y="362102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&amp; Toàn vẹn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583680" y="4142232"/>
            <a:ext cx="4736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CDN Vercel; backend Docker co giãn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Semaphore giới hạn luồng AI, tránh OOM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credit chỉ ghi thêm (append-only)</a:t>
            </a:r>
            <a:endParaRPr lang="en-US" sz="123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3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đánh dấu 'failed' cho trang treo khi restart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KIẾN TRÚC HỆ THỐNG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dịch vụ triển khai độc lập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47088"/>
            <a:ext cx="5120640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12064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783080"/>
            <a:ext cx="5120640" cy="47548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0136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— Next.js 16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React 19 · TS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Pages: Upload · Reader · Q&amp;A · Library · Admin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api.ts: fetch wrapper + retry cold-start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" y="3493008"/>
            <a:ext cx="5120640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429000"/>
            <a:ext cx="51206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" y="3429000"/>
            <a:ext cx="5120640" cy="4754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447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 — FastAPI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95935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· Docker · Singapore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4251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Routers: auth · upload · qa · series · admin…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Services: ai_pipeline · rag · credit · captcha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67728" y="1847088"/>
            <a:ext cx="4690872" cy="13716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6903720" y="1783080"/>
            <a:ext cx="4690872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1783080"/>
            <a:ext cx="4690872" cy="47548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7068312" y="180136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68312" y="231343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AWS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086600" y="2606040"/>
            <a:ext cx="4325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(RAG) + pg_trgm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Storage (originals/thumbnails)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67728" y="3493008"/>
            <a:ext cx="4690872" cy="14173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6903720" y="3429000"/>
            <a:ext cx="4690872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03720" y="3429000"/>
            <a:ext cx="4690872" cy="47548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7068312" y="3447288"/>
            <a:ext cx="4361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 — FastAPI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68312" y="3959352"/>
            <a:ext cx="4361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Spaces · ~4GB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86600" y="4251960"/>
            <a:ext cx="4325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· manga-ocr · LaMa · render</a:t>
            </a:r>
            <a:endParaRPr lang="en-US" sz="11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embedding câu (pgvector)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967728" y="5138928"/>
            <a:ext cx="4690872" cy="84124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903720" y="5074920"/>
            <a:ext cx="4690872" cy="841248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86600" y="50749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  </a:t>
            </a:r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+ sinh câu trả lời RAG · xoay vòng nhiều API key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127248" y="3154680"/>
            <a:ext cx="0" cy="27432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3264408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cookie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9280" y="4114800"/>
            <a:ext cx="1234440" cy="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806440" y="38221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235440" y="4846320"/>
            <a:ext cx="0" cy="228600"/>
          </a:xfrm>
          <a:prstGeom prst="line">
            <a:avLst/>
          </a:prstGeom>
          <a:noFill/>
          <a:ln w="25400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PIPELINE DỊCH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ảnh gốc đến bản dịch overlay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2286000"/>
            <a:ext cx="1670304" cy="54864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1323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bong bóng thoại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55520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02408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38400" y="2286000"/>
            <a:ext cx="1670304" cy="5486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2529840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95600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584704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chữ Nhật trong bbox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26992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373880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4309872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9872" y="2286000"/>
            <a:ext cx="1670304" cy="548640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1" name="Text 19"/>
          <p:cNvSpPr/>
          <p:nvPr/>
        </p:nvSpPr>
        <p:spPr>
          <a:xfrm>
            <a:off x="4401312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7072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56176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Xoá chữ gốc (inpaint)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98464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45352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6181344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2286000"/>
            <a:ext cx="1670304" cy="54864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6272784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38544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327648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có ngữ cảnh → Việt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869936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116824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8052816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52816" y="2286000"/>
            <a:ext cx="1670304" cy="54864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5" name="Text 33"/>
          <p:cNvSpPr/>
          <p:nvPr/>
        </p:nvSpPr>
        <p:spPr>
          <a:xfrm>
            <a:off x="8144256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510016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199120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chữ Việt vào bbox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741408" y="3360420"/>
            <a:ext cx="155448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988296" y="2350008"/>
            <a:ext cx="1670304" cy="214884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9924288" y="2286000"/>
            <a:ext cx="1670304" cy="2148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24288" y="2286000"/>
            <a:ext cx="1670304" cy="548640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42" name="Text 40"/>
          <p:cNvSpPr/>
          <p:nvPr/>
        </p:nvSpPr>
        <p:spPr>
          <a:xfrm>
            <a:off x="10015728" y="2340864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381488" y="2340864"/>
            <a:ext cx="11216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070592" y="3035808"/>
            <a:ext cx="1377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hoá → pgvector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6" name="Shape 44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trang manga (JPG/PNG/WebP ≤ 10MB)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spc="1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 đã dịch (manga-thumbnails) + bubble_data + embeddings · tiến trình realtime qua WebSocket, huỷ hợp tác được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31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HỎI–ĐÁP THÔNG MINH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Q&amp;A trên nội dung truyện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6809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dùng hỏi về 1 trang / series bằng ngôn ngữ tự nhiên.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2724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6557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0156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0273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0273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embedding vector hoá câu hỏi.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6188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0021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620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3737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pgvector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3737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search top-k đoạn text bong bóng liên quan.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79652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3485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70848" y="2103120"/>
            <a:ext cx="2523744" cy="2194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Text 26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27201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câu trả lời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7201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câu hỏi → Gemini (xoay vòng key) trả lời.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credit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86384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trừ mỗi câu trả lời thành công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98264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Shape 34"/>
          <p:cNvSpPr/>
          <p:nvPr/>
        </p:nvSpPr>
        <p:spPr>
          <a:xfrm>
            <a:off x="4334256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53712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nguồn trích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553712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đính kèm đoạn text làm bằng chứng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65592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8321040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gemini-001 · pgvector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NGHE &amp; VIDEO RECAP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Kể chuyện bằng giọng AI — Listen Mode &amp; Video Recap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6809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Lấy bản dịch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hội thoại đã dịch + thứ tự trang trong chương.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2724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6557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0156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60273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0273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viết kịch bản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0273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LLM (qwen2.5vl) đọc tranh, dệt hội thoại thành lời kể ngắn.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6188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30021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36208" y="2103120"/>
            <a:ext cx="2523744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Text 19"/>
          <p:cNvSpPr/>
          <p:nvPr/>
        </p:nvSpPr>
        <p:spPr>
          <a:xfrm>
            <a:off x="643737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3737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TTS tổng hợp giọng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3737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engine + giọng đọc, sinh file audio (manga-audio bucket).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796528" y="3200400"/>
            <a:ext cx="237744" cy="0"/>
          </a:xfrm>
          <a:prstGeom prst="line">
            <a:avLst/>
          </a:prstGeom>
          <a:noFill/>
          <a:ln w="28575">
            <a:solidFill>
              <a:srgbClr val="191512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134856" y="2167128"/>
            <a:ext cx="2523744" cy="2194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70848" y="2103120"/>
            <a:ext cx="2523744" cy="2194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Text 26"/>
          <p:cNvSpPr/>
          <p:nvPr/>
        </p:nvSpPr>
        <p:spPr>
          <a:xfrm>
            <a:off x="927201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272016" y="30358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video recap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272016" y="3474720"/>
            <a:ext cx="21214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ghép audio + hình ảnh thành .mp4 tóm tắt cả chương.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0936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86384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credit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86384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trừ mỗi trang được đọc (NARRATION_CREDIT_COST)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398264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6" name="Shape 34"/>
          <p:cNvSpPr/>
          <p:nvPr/>
        </p:nvSpPr>
        <p:spPr>
          <a:xfrm>
            <a:off x="4334256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53712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TTS engine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4553712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(mặc định) · pyttsx3 (offline) · coqui (pod riêng)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165592" y="4956048"/>
            <a:ext cx="3493008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4892040"/>
            <a:ext cx="3493008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5038344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8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.mp4 recap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8321040" y="551383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dựng video cả chương, ẩn nút nếu thiếu ffmpeg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31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CÔNG NGHỆ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Ngăn xếp công nghệ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5836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· TypeScript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+ Framer Motion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+ offline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6432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3392424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2424" y="1810512"/>
            <a:ext cx="2551176" cy="658368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3.11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/ Gunicorn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SlowAPI rate-limit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+ OpenTelemetry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81928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810512"/>
            <a:ext cx="2551176" cy="658368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(ultralytics)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manga-ocr (fine-tuned)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 inpaint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07424" y="1874520"/>
            <a:ext cx="2551176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9043416" y="1810512"/>
            <a:ext cx="2551176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43416" y="1810512"/>
            <a:ext cx="2551176" cy="658368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2" name="Text 20"/>
          <p:cNvSpPr/>
          <p:nvPr/>
        </p:nvSpPr>
        <p:spPr>
          <a:xfrm>
            <a:off x="9226296" y="1810512"/>
            <a:ext cx="21854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&amp; Hạ tầng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262872" y="2679192"/>
            <a:ext cx="21488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· pg_trgm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· Render · HF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BẢO MẬT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Phòng thủ nhiều lớp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08176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thực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HttpOnly (không lộ token cho JS); auto-refresh; Google OAuth.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6940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user/admin ở API + RLS trên mọi bảng dữ liệu người dùng.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3064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lạm dụng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 (SlowAPI) theo endpoint; captcha Turnstile ở đăng ký / quên MK.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408176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CSP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headers + CSP chặt trên mọi response, kể cả /docs.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6940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tra upload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Pillow verify() chống giả mạo MIME; chỉ nhận JPEG/PNG/WebP thật.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3064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Chống SSRF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scraper chỉ nhận domain trong allowlist khi nhập từ nguồn ngoài.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31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TRIỂN KHAI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nền tảng, tự động deploy từ 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810512"/>
            <a:ext cx="2551176" cy="60350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 khi push main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56432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Shape 10"/>
          <p:cNvSpPr/>
          <p:nvPr/>
        </p:nvSpPr>
        <p:spPr>
          <a:xfrm>
            <a:off x="3392424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92424" y="1810512"/>
            <a:ext cx="2551176" cy="6035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4" name="Text 12"/>
          <p:cNvSpPr/>
          <p:nvPr/>
        </p:nvSpPr>
        <p:spPr>
          <a:xfrm>
            <a:off x="3557016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75304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75304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· Docker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75304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render.yaml · free tier 512MB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81928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810512"/>
            <a:ext cx="2551176" cy="6035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1" name="Text 19"/>
          <p:cNvSpPr/>
          <p:nvPr/>
        </p:nvSpPr>
        <p:spPr>
          <a:xfrm>
            <a:off x="6382512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Spaces · ~4GB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0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Docker thủ công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107424" y="1874520"/>
            <a:ext cx="2551176" cy="27432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6" name="Shape 24"/>
          <p:cNvSpPr/>
          <p:nvPr/>
        </p:nvSpPr>
        <p:spPr>
          <a:xfrm>
            <a:off x="9043416" y="1810512"/>
            <a:ext cx="2551176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3416" y="1810512"/>
            <a:ext cx="2551176" cy="60350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8" name="Text 26"/>
          <p:cNvSpPr/>
          <p:nvPr/>
        </p:nvSpPr>
        <p:spPr>
          <a:xfrm>
            <a:off x="9208008" y="181051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+ Storage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2560320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226296" y="3044952"/>
            <a:ext cx="2185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8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us-east-1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226296" y="3502152"/>
            <a:ext cx="2185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pgvector + Auth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" y="4956048"/>
            <a:ext cx="11027664" cy="10515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892040"/>
            <a:ext cx="11027664" cy="10515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" y="4892040"/>
            <a:ext cx="103875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hành:  </a:t>
            </a:r>
            <a:pPr indent="0" marL="0">
              <a:buNone/>
            </a:pPr>
            <a:r>
              <a:rPr lang="en-US" sz="1250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keep-alive ping chống ngủ (Render/HF) · health check /health &amp; /health/deep · Sentry + OpenTelemetry giám sát · Supabase PITR backup 7 ngày.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31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MÔ HÌNH ML &amp; ĐÁNH GIÁ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huấn luyện vượt ngưỡng đặt 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806440" cy="411480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80644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56816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YOLOv8 · Phát hiện bong bóng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2677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Manga109-s · test 956 ảnh / 14.130 box · ngưỡng 85%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04088" y="2606040"/>
          <a:ext cx="5532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22008" y="1874520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7"/>
          <p:cNvSpPr/>
          <p:nvPr/>
        </p:nvSpPr>
        <p:spPr>
          <a:xfrm>
            <a:off x="6858000" y="1810512"/>
            <a:ext cx="4736592" cy="1975104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0" y="1810512"/>
            <a:ext cx="146304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2" name="Text 9"/>
          <p:cNvSpPr/>
          <p:nvPr/>
        </p:nvSpPr>
        <p:spPr>
          <a:xfrm>
            <a:off x="7168896" y="1956816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manga-ocr (fine-tuned)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68896" y="2322576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tiếng Nhật · test 14.130 mẫu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68896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68896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552688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93.9%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552688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Char-Acc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936480" y="2679192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67.5%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9936480" y="320040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922008" y="3995928"/>
            <a:ext cx="4736592" cy="197510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3931920"/>
            <a:ext cx="4736592" cy="1975104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858000" y="3931920"/>
            <a:ext cx="146304" cy="197510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0"/>
          <p:cNvSpPr/>
          <p:nvPr/>
        </p:nvSpPr>
        <p:spPr>
          <a:xfrm>
            <a:off x="7168896" y="4078224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7168896" y="4443984"/>
            <a:ext cx="4279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ngữ cảnh · human-in-the-loop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168896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80%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168896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hài lòng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552688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 Flash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552688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936480" y="4800600"/>
            <a:ext cx="1292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768-dim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9936480" y="5321808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KIỂM THỬ &amp; 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Chất lượng được kiểm thử &amp; tự động hoá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416052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4160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93852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Tầng kiểm thử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377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08176" y="232257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Katalon Studio</a:t>
            </a:r>
            <a:pPr indent="0" marL="0">
              <a:buNone/>
            </a:pPr>
            <a:r>
              <a:rPr lang="en-US" sz="10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PA5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408176" y="263347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UI tự động: UC01 Upload–Dịch &amp; UC02 Đọc overlay · ≥2 scenario/UC · Pass/Fail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3072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08176" y="30175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/ Component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08176" y="332841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React Testing Library (frontend)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08176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8176" y="402336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respx (mock Supabase/Gemini)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08176" y="440740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8176" y="471830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Playwright: auth, home, protected, mobile, forum, edge-cases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08176" y="5102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Tĩnh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408176" y="541324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 --noEmit · ESLint · Python type hints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76288" y="1874520"/>
            <a:ext cx="4782312" cy="416052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8" name="Shape 26"/>
          <p:cNvSpPr/>
          <p:nvPr/>
        </p:nvSpPr>
        <p:spPr>
          <a:xfrm>
            <a:off x="6812280" y="1810512"/>
            <a:ext cx="4782312" cy="4160520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· 5 JOB SONG SONG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040880" y="2423160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24231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589520" y="242316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 (tsc)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222992" y="2423160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081528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08152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7589520" y="308152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(ESLint)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222992" y="3081528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040880" y="3739896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78040" y="373989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589520" y="373989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build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22992" y="3739896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40880" y="4398264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78040" y="43982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589520" y="439826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222992" y="4398264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040880" y="5056632"/>
            <a:ext cx="4325112" cy="530352"/>
          </a:xfrm>
          <a:prstGeom prst="rect">
            <a:avLst/>
          </a:prstGeom>
          <a:solidFill>
            <a:srgbClr val="3A332C"/>
          </a:solidFill>
          <a:ln w="12700">
            <a:solidFill>
              <a:srgbClr val="4A403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78040" y="5056632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7589520" y="50566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pytest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0222992" y="5056632"/>
            <a:ext cx="1005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7040880" y="5623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Mọi PR phải review + CI xanh trước khi merge vào main.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31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TÍNH NĂNG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Ngoài lõi dịch — một hệ sinh thái đầy đủ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89888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nâng cao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chế độ đọc, phím tắt, vuốt mobile, từ điển bong bóng, cảnh báo độ tin cậy thấp.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Text 11"/>
          <p:cNvSpPr/>
          <p:nvPr/>
        </p:nvSpPr>
        <p:spPr>
          <a:xfrm>
            <a:off x="4565904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51120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QC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84192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 (approve/reject), tìm–thay thế hàng loạt, phản hồi 👍/👎.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solidFill>
            <a:srgbClr val="285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327136" y="2066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12352" y="2048256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Thư viện &amp; chia sẻ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45424" y="2651760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bản chương công khai, đọc ẩn danh, chia sẻ link TTL + OG image.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3" name="Shape 21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804672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89888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Cộng đồng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Diễn đàn (mention, đính kèm, vote), bình luận chương, hồ sơ /u/{username}.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1" name="Text 29"/>
          <p:cNvSpPr/>
          <p:nvPr/>
        </p:nvSpPr>
        <p:spPr>
          <a:xfrm>
            <a:off x="4565904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5151120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Gamification (Wibu)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584192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Bookmark, rating, reading list, mục tiêu, XP/level, thành tựu + thông báo.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solidFill>
            <a:srgbClr val="3A3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327136" y="4197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912352" y="41788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&amp; thanh toán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345424" y="4782312"/>
            <a:ext cx="29931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5/ngày; gói basic/pro/premium; Stripe checkout/webhook; điểm danh streak.</a:t>
            </a:r>
            <a:endParaRPr lang="en-US" sz="1230" dirty="0"/>
          </a:p>
        </p:txBody>
      </p:sp>
      <p:sp>
        <p:nvSpPr>
          <p:cNvPr id="40" name="Text 38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31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chủ &amp; Upload → Dịch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 (Trang chủ)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+ nền anime động + 'Tiếp tục đọc'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Kéo-thả trang manga Nhật, chọn cấu hình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đăng nhập → kéo-thả 1 trang → pipeline chạy realtime (YOLOv8 → manga-ocr → LaMa → Gemini).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31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LUỒNG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overlay &amp; Studio QC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/reader?page=…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dịch phủ bong bóng, bật/tắt so sánh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/studio (QC)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đính per-bubble, tìm–thay thế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Reader xem overlay tiếng Việt; bật/tắt bản gốc; mở từ điển bong bóng; hiệu đính trong Studio.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31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LUỒNG B + Q&amp;A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cả chương · RAG Q&amp;A · Thư viện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/upload (batch) · /qa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nhiều trang + tiến trình x/N realtime; hỏi–đáp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/library · /admin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viện công khai; bảng điều khiển quản trị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cả chương xử lý tuần tự; hỏi AI về nội dung; xuất bản lên thư viện; xem admin dashboard.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31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RAG Q&amp;A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Hỏi–đáp AI về nội dung truyện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 câu hỏi về nhân vật, tình tiết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/qa (kết quả)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trả lời kèm đoạn trích dẫn làm nguồn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1 trang/series đã dịch → hỏi về nội dung → xem AI trả lời kèm trích dẫn bằng chứng.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31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DEMO · VIDEO RECAP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&amp; xem lại chương bằng giọng AI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66928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66928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/reader (Nghe)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Bật Listen Mode, chọn giọng đọc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64224" y="1837944"/>
            <a:ext cx="5285232" cy="40233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83080"/>
            <a:ext cx="5285232" cy="4023360"/>
          </a:xfrm>
          <a:prstGeom prst="rect">
            <a:avLst/>
          </a:prstGeom>
          <a:solidFill>
            <a:srgbClr val="F4EEE3"/>
          </a:solidFill>
          <a:ln w="15875">
            <a:solidFill>
              <a:srgbClr val="19151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309360" y="3291840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▣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09360" y="373989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E6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CHÈN ẢNH CHỤP MÀN HÌNH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4014216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recap .mp4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5852160"/>
            <a:ext cx="5285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video tóm tắt chương bằng giọng AI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03504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nhấn khi demo:  </a:t>
            </a:r>
            <a:pPr indent="0" marL="0">
              <a:buNone/>
            </a:pPr>
            <a:r>
              <a:rPr lang="en-US" sz="12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nút 'Nghe' trong Reader → chọn engine/giọng → xuất recap cả chương thành video ngắn.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31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NHÌN THẲNG VÀO HẠN CHẾ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&amp; lỗi đã biết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92024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86384" y="223113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&amp; HF Spaces ngủ sau khi rảnh → lần đầu chậm 15–60s (đã có keep-alive).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" y="297180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90779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301752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Quota Gemini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332841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 giới hạn RPD → xoay vòng key + throttle + cache; cao điểm vẫn có thể bị giới hạn.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" y="406908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400507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411480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chữ hiệu ứng (SFX)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86384" y="442569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viết tay / hiệu ứng độ chính xác giảm; bong bóng SFX có thể bị bỏ qua.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" y="5166360"/>
            <a:ext cx="5943600" cy="987552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5102352"/>
            <a:ext cx="5943600" cy="987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5212080"/>
            <a:ext cx="5504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 cục chữ Việt dài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86384" y="5522976"/>
            <a:ext cx="5504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 bóng nhỏ phải thu nhỏ cỡ chữ hoặc cắt bớt (có tooltip đầy đủ).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76288" y="1874520"/>
            <a:ext cx="4782312" cy="440740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12280" y="1810512"/>
            <a:ext cx="4782312" cy="4407408"/>
          </a:xfrm>
          <a:prstGeom prst="rect">
            <a:avLst/>
          </a:prstGeom>
          <a:solidFill>
            <a:srgbClr val="191512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LỖI ĐÃ BIẾT (đang xử lý)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2423160"/>
            <a:ext cx="432511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phiên hết hạn giữa chừng → đôi khi cần tải lại trang (đang hoàn thiện auto-refresh).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mất gói khi mạng chập chờn → fallback polling, tiến trình có thể 'nhảy' %.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 ảnh có thể hết hạn với phiên đọc rất dài → đã thêm retry tải ảnh.</a:t>
            </a:r>
            <a:endParaRPr lang="en-US" sz="128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bị mobile cũ: nền anime động có thể tụt FPS (tắt được trong cài đặt).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31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HƯỚNG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1027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tiếp theo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53312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&amp; dịch tốt hơn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thêm cho SFX/chữ viết tay; hỗ trợ thêm cặp ngôn ngữ (Hàn, Anh).</a:t>
            </a:r>
            <a:endParaRPr lang="en-US" sz="1230" dirty="0"/>
          </a:p>
        </p:txBody>
      </p:sp>
      <p:sp>
        <p:nvSpPr>
          <p:cNvPr id="9" name="Shape 7"/>
          <p:cNvSpPr/>
          <p:nvPr/>
        </p:nvSpPr>
        <p:spPr>
          <a:xfrm>
            <a:off x="4392168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0" name="Shape 8"/>
          <p:cNvSpPr/>
          <p:nvPr/>
        </p:nvSpPr>
        <p:spPr>
          <a:xfrm>
            <a:off x="4328160" y="1810512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7616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114544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Sắp xếp bong bóng RTL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84192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Cải thiện thứ tự đọc phải-sang-trái cho bố cục phức tạp.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8153400" y="1874520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9392" y="1810512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8848" y="2011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875776" y="2048256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Nâng độ sẵn sàng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345424" y="2706624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tier trả phí giảm cold start; hàng đợi tác vụ chuyên dụng.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630936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353312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 nhân hoá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22960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truyện theo lịch sử đọc; cải thiện RAG đa-trang / cả series.</a:t>
            </a:r>
            <a:endParaRPr lang="en-US" sz="1230" dirty="0"/>
          </a:p>
        </p:txBody>
      </p:sp>
      <p:sp>
        <p:nvSpPr>
          <p:cNvPr id="24" name="Shape 22"/>
          <p:cNvSpPr/>
          <p:nvPr/>
        </p:nvSpPr>
        <p:spPr>
          <a:xfrm>
            <a:off x="4392168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8160" y="3941064"/>
            <a:ext cx="3505200" cy="1965960"/>
          </a:xfrm>
          <a:prstGeom prst="rect">
            <a:avLst/>
          </a:prstGeom>
          <a:solidFill>
            <a:srgbClr val="F4EEE3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7616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114544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duyệt &amp; bản quyền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584192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cụ chống vi phạm bản quyền, quy trình DMCA rõ ràng.</a:t>
            </a:r>
            <a:endParaRPr lang="en-US" sz="1230" dirty="0"/>
          </a:p>
        </p:txBody>
      </p:sp>
      <p:sp>
        <p:nvSpPr>
          <p:cNvPr id="29" name="Shape 27"/>
          <p:cNvSpPr/>
          <p:nvPr/>
        </p:nvSpPr>
        <p:spPr>
          <a:xfrm>
            <a:off x="8153400" y="4005072"/>
            <a:ext cx="3505200" cy="1965960"/>
          </a:xfrm>
          <a:prstGeom prst="rect">
            <a:avLst/>
          </a:prstGeom>
          <a:solidFill>
            <a:srgbClr val="19151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89392" y="3941064"/>
            <a:ext cx="350520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915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0884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8875776" y="4178808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19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Ứng dụng di động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345424" y="4837176"/>
            <a:ext cx="2993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3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PWA thành app; đọc offline mượt hơn.</a:t>
            </a:r>
            <a:endParaRPr lang="en-US" sz="1230" dirty="0"/>
          </a:p>
        </p:txBody>
      </p:sp>
      <p:sp>
        <p:nvSpPr>
          <p:cNvPr id="34" name="Text 32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1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31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868680"/>
            <a:ext cx="10844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sản phẩm AI hoàn chỉnh, chạy thật.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3816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86968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 vụ triển khai độc lập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93592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3529584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66744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95.3%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666744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mAP@0.5 phát hiện bong bóng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73368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446520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OCR tiếng Nhật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153144" y="2075688"/>
            <a:ext cx="2505456" cy="14173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9089136" y="2011680"/>
            <a:ext cx="2505456" cy="141732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217627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226296" y="2852928"/>
            <a:ext cx="22311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yêu cầu chức năng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3816" y="3813048"/>
            <a:ext cx="10844784" cy="22860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49040"/>
            <a:ext cx="10844784" cy="2286000"/>
          </a:xfrm>
          <a:prstGeom prst="rect">
            <a:avLst/>
          </a:prstGeom>
          <a:solidFill>
            <a:srgbClr val="3A332C"/>
          </a:solidFill>
          <a:ln w="19050">
            <a:solidFill>
              <a:srgbClr val="4A40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39502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ĐẠT ĐƯỢC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24128" y="4315968"/>
            <a:ext cx="10204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AI end-to-end: phát hiện → OCR → xoá nền → dịch ngữ cảnh → RAG Q&amp;A.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 production: microservice, WebSocket, bảo mật nhiều lớp, CI 5 job, giám sát.</a:t>
            </a:r>
            <a:endParaRPr lang="en-US" sz="1400" dirty="0"/>
          </a:p>
          <a:p>
            <a:pPr marL="203200" indent="-2032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quy trình CNPM: RUP rút gọn + Scrum, tài liệu SAD/SRS/SDP đồng bộ code thật.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66928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</a:t>
            </a:r>
            <a:pPr indent="0" marL="0">
              <a:buNone/>
            </a:pP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Nhóm 1 · CSC10011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14432" y="645566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1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31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9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5120640"/>
            <a:ext cx="822960" cy="822960"/>
          </a:xfrm>
          <a:prstGeom prst="rect">
            <a:avLst/>
          </a:prstGeom>
          <a:solidFill>
            <a:srgbClr val="E0A32E"/>
          </a:solidFill>
          <a:ln/>
        </p:spPr>
      </p:sp>
      <p:sp>
        <p:nvSpPr>
          <p:cNvPr id="3" name="Shape 1"/>
          <p:cNvSpPr/>
          <p:nvPr/>
        </p:nvSpPr>
        <p:spPr>
          <a:xfrm>
            <a:off x="10744200" y="5440680"/>
            <a:ext cx="822960" cy="82296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4" name="Shape 2"/>
          <p:cNvSpPr/>
          <p:nvPr/>
        </p:nvSpPr>
        <p:spPr>
          <a:xfrm>
            <a:off x="10396728" y="630936"/>
            <a:ext cx="1371600" cy="1371600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5" name="Shape 3"/>
          <p:cNvSpPr/>
          <p:nvPr/>
        </p:nvSpPr>
        <p:spPr>
          <a:xfrm>
            <a:off x="10314432" y="548640"/>
            <a:ext cx="1371600" cy="1371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6" name="Image 0" descr="assets/hcmu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0736" y="790974"/>
            <a:ext cx="1078992" cy="8869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1463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 THẦY &amp; CÁC BẠN ĐÃ LẮNG NGHE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32688" y="182880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&amp; Thảo luận</a:t>
            </a:r>
            <a:endParaRPr lang="en-US" sz="5400" dirty="0"/>
          </a:p>
        </p:txBody>
      </p:sp>
      <p:sp>
        <p:nvSpPr>
          <p:cNvPr id="9" name="Shape 6"/>
          <p:cNvSpPr/>
          <p:nvPr/>
        </p:nvSpPr>
        <p:spPr>
          <a:xfrm>
            <a:off x="1024128" y="3063240"/>
            <a:ext cx="5486400" cy="18288"/>
          </a:xfrm>
          <a:prstGeom prst="rect">
            <a:avLst/>
          </a:prstGeom>
          <a:solidFill>
            <a:srgbClr val="D0311E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2461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3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StoryLens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005840" y="3931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storylens-api.onrender.com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480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MODULE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004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huynhtrungkiet09032005-ai-storylen.hf.space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05840" y="5029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20040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demo.pa3@storylens.app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5840" y="5577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0A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00400" y="5577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 — CSC10011 · GVHD: GS.TS Nguyễn Văn Vũ, ThS. Trương Phước Lộc, ThS. Ngô Ngọc Đăng Khoa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HCMUS · CSC10011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StoryLens — Báo cáo cuối kỳ</dc:title>
  <dc:subject>PptxGenJS Presentation</dc:subject>
  <dc:creator>Nhóm 1 – StoryLens</dc:creator>
  <cp:lastModifiedBy>Nhóm 1 – StoryLens</cp:lastModifiedBy>
  <cp:revision>1</cp:revision>
  <dcterms:created xsi:type="dcterms:W3CDTF">2026-07-10T02:39:44Z</dcterms:created>
  <dcterms:modified xsi:type="dcterms:W3CDTF">2026-07-10T02:39:44Z</dcterms:modified>
</cp:coreProperties>
</file>