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YOLOv8</c:v>
                </c:pt>
              </c:strCache>
            </c:strRef>
          </c:tx>
          <c:spPr>
            <a:solidFill>
              <a:srgbClr val="D0311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915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0311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311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031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031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mAP@.5</c:v>
                  </c:pt>
                  <c:pt idx="1">
                    <c:v>mAP@.5:.95</c:v>
                  </c:pt>
                  <c:pt idx="2">
                    <c:v>Precision</c:v>
                  </c:pt>
                  <c:pt idx="3">
                    <c:v>Recall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95.3</c:v>
                </c:pt>
                <c:pt idx="1">
                  <c:v>84.4</c:v>
                </c:pt>
                <c:pt idx="2">
                  <c:v>97.3</c:v>
                </c:pt>
                <c:pt idx="3">
                  <c:v>93.8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100" u="none">
                  <a:solidFill>
                    <a:srgbClr val="1915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9151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mở đầu. Giới thiệu tên sản phẩm StoryLens, một câu định vị, môn học/GVHD/nhóm 1 (6 thành viên).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Trình bày 5 phần lớn trong ~15 phút (gồm demo), sau đó 10 phút Q&amp;A. Phần III và IV là trọng tâm kỹ thuật; phần demo nằm trong IV. Mỗi thành viên trình bày ít nhất một phần (≥ 3 phút/người).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điểm đau chính: fan-sub chậm, dịch mất ngữ cảnh, không hỏi được nội dung. Dẫn sang giải pháp.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Tuyên ngôn định vị theo mẫu Vision. Bốn trụ giá trị: dịch ngữ cảnh, đọc overlay, RAG Q&amp;A, cộng đồng.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Bảng so sánh nhanh. Hàng StoryLens tô đỏ để nổi bật. Nhấn: chỉ StoryLens có cả overlay lẫn RAG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persona từ tài liệu Vision. Nhấn mạnh nhu cầu chung: dịch chính xác + hỏi được nội dung.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sẽ tập trung UC01+UC02 (luồng A) và UC03 (luồng B) — đủ yêu cầu ≥2 use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Sơ đồ use case: Người đọc dùng UC01–UC05; Quản trị viên dùng UC06; AI Module + Gemini là tác nhân phụ hỗ trợ dịch (UC01) và Q&amp;A (UC04). Demo bao phủ UC01+UC02 (luồng A) và UC03 (luồng 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nhóm yêu cầu chức năng theo SRS. F03 (pipeline AI) và F05 (RAG) là lõi AI của hệ thống.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NFR chia 2 nhóm: bảo mật và vận hành/toàn vẹn. Bốn con số hiệu năng ở trên là mục tiêu đã đặt trong SRS.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Kiến trúc microservice + phân tầng. Backend nhẹ (Render free) tách khỏi AI Module nặng (HF Spaces). Supabase là state dùng chung.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6 bước chạy trong luồng nền có semaphore. Có fallback M2M100/NLLB nếu Gemini lỗi. Render dùng binary-search cỡ chữ để vừa bbox.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RAG: embedding → tìm pgvector → Gemini sinh câu trả lời kèm nguồn. Mỗi câu trả lời thành công trừ 1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Kết quả ML thật đưa vào SAD mục 7.5. YOLOv8 mAP@0.5 95.3% và OCR CER 6.1% đều vượt ngưỡng. Gemini đánh giá bằng human-in-the-loop.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 đầy đủ 3 dịch vụ + dữ liệu. Nhấn: mọi thứ chạy trên tier miễn phí/rẻ nhưng vẫn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Hệ sinh thái quanh lõi dịch: reader, QC, thư viện, cộng đồng, gamification, thanh toán. Cho thấy quy mô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Chụp trang chủ và trang upload. Khi demo: đăng nhập tài khoản demo, kéo-thả 1 trang, chờ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Chụp Reader có overlay dịch và màn Studio QC. Cần AI Module sống để có bản dịch thật.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Chụp batch upload + tiến trình, Q&amp;A, thư viện công khai và admin. Đây là luồng B (UC03) + RAG (UC04).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Quy trình theo RUP rút gọn + Scrum (LN03b). Bảng bên phải là mẫu vai trò theo RUP; phân công thực tế cho 6 thành viên ở slide kế tiếp.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Cơ cấu nhóm phẳng, 6 thành viên. PA5 yêu cầu nêu rõ team structure + trách nhiệm từng người: mỗi bạn phụ trách một mảng (PM/AI-OCR, AI-OCR, Backend, AI-RAG, Frontend, QA/BA) và ai cũng trình bày một phần khi bảo vệ.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Kiểm thử đa tầng + CI 5 job song song. Katalon Studio là công cụ kiểm thử tự động bắt buộc của PA5: tối thiểu 2 use case (UC01, UC02), mỗi use case ≥ 2 scenario, báo cáo Pass/Fail kèm test script. Định nghĩa 'done' gồm review, test pass, deploy &amp; verify trên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Bảo mật nhiều lớp: xác thực cookie, RBAC+RLS, rate-limit+captcha, CSP, kiểm tra upload, chống SSRF.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Bốn nền tảng độc lập, auto-deploy từ main. Có keep-alive, health check, giám sát và backup PITR.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Trung thực về hạn chế: cold start, quota, OCR SFX, bố cục chữ dài — và các lỗi đang xử lý. Cho thấy sự chín chắn kỹ thuật.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Roadmap: OCR/dịch tốt hơn, RTL, giảm cold start, cá nhân hoá, bản quyền, mobile.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Chốt lại: sản phẩm AI hoàn chỉnh chạy thật, kỹ thuật production, áp dụng đúng quy trình CNPM. Nhấn 4 con số.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cảm ơn + Q&amp;A. Sẵn sàng demo trực tiếp nếu Thầy yêu cầu. Nhớ đánh thức AI Module trước khi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3" name="Shape 1"/>
          <p:cNvSpPr/>
          <p:nvPr/>
        </p:nvSpPr>
        <p:spPr>
          <a:xfrm>
            <a:off x="10012680" y="566928"/>
            <a:ext cx="384048" cy="384048"/>
          </a:xfrm>
          <a:prstGeom prst="rect">
            <a:avLst/>
          </a:prstGeom>
          <a:solidFill>
            <a:srgbClr val="E0A32E"/>
          </a:solidFill>
          <a:ln/>
        </p:spPr>
      </p:sp>
      <p:sp>
        <p:nvSpPr>
          <p:cNvPr id="4" name="Shape 2"/>
          <p:cNvSpPr/>
          <p:nvPr/>
        </p:nvSpPr>
        <p:spPr>
          <a:xfrm>
            <a:off x="10396728" y="649224"/>
            <a:ext cx="1371600" cy="13716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5" name="Shape 3"/>
          <p:cNvSpPr/>
          <p:nvPr/>
        </p:nvSpPr>
        <p:spPr>
          <a:xfrm>
            <a:off x="10314432" y="566928"/>
            <a:ext cx="1371600" cy="1371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6" name="Image 0" descr="assets/hcmu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0736" y="809262"/>
            <a:ext cx="1078992" cy="88693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9601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ĐỒ ÁN CUỐI KỲ · PA5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32688" y="132588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StoryLens</a:t>
            </a:r>
            <a:endParaRPr lang="en-US" sz="8200" dirty="0"/>
          </a:p>
        </p:txBody>
      </p:sp>
      <p:sp>
        <p:nvSpPr>
          <p:cNvPr id="9" name="Shape 6"/>
          <p:cNvSpPr/>
          <p:nvPr/>
        </p:nvSpPr>
        <p:spPr>
          <a:xfrm>
            <a:off x="1024128" y="2798064"/>
            <a:ext cx="7680960" cy="1828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292608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Nền tảng AI dịch &amp; hỏi–đáp Manga theo ngữ cảnh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1005840" y="345643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→ phát hiện · đọc · xoá nền · dịch bong bóng thoại (Nhật/Trung → Việt) → đọc overlay + RAG Q&amp;A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1005840" y="461772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 HỌC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05840" y="48554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CSC10011 — CNPM cho hệ thống AI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3520440" y="461772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GVHD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3520440" y="4855464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GS.TS Nguyễn Văn Vũ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ThS. Trương Phước Lộc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ThS. Ngô Ngọc Đăng Khoa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035040" y="461772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035040" y="48554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 — StoryLens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549640" y="461772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NGÀY BÁO CÁO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549640" y="48554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10/07/2026 · HCMUS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1005840" y="580644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Thành viên: Đào Sỹ Duy Minh · Nguyễn Đình Hà Dương · Huỳnh Trung Kiệt · Phạm Phú Hòa · Trần Chí Nguyên · Nguyễn Lâm Phú Quý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005840" y="6144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storylens-api.onrender.com  ·  Next.js 16 · FastAPI · HuggingFace Spaces · Supabase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DUNG TRÌNH BÀY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dung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47088"/>
            <a:ext cx="11027664" cy="8412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11027664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1920240"/>
            <a:ext cx="566928" cy="56692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81328" y="19019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Bối cảnh &amp; Vấn đề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053328" y="1901952"/>
            <a:ext cx="535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Nhu cầu đọc manga · điểm đau người dùng · định vị sản phẩm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" y="2798064"/>
            <a:ext cx="11027664" cy="8412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2734056"/>
            <a:ext cx="11027664" cy="8412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2871216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81328" y="28529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Yêu cầu &amp; Người dùng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053328" y="2852928"/>
            <a:ext cx="535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· use case · yêu cầu chức năng và phi chức năng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" y="3749040"/>
            <a:ext cx="11027664" cy="8412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85032"/>
            <a:ext cx="11027664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3822192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38221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481328" y="380390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&amp; AI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053328" y="3803904"/>
            <a:ext cx="535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dịch vụ · pipeline dịch · RAG Q&amp;A · mô hình ML &amp; kết quả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30936" y="4700016"/>
            <a:ext cx="11027664" cy="8412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3" name="Shape 21"/>
          <p:cNvSpPr/>
          <p:nvPr/>
        </p:nvSpPr>
        <p:spPr>
          <a:xfrm>
            <a:off x="566928" y="4636008"/>
            <a:ext cx="11027664" cy="8412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3232" y="4773168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4773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481328" y="4754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Hiện thực &amp; Chất lượng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053328" y="4754880"/>
            <a:ext cx="535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 năng · demo · kiểm thử/CI · bảo mật · triển khai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30936" y="5650992"/>
            <a:ext cx="11027664" cy="8412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9" name="Shape 27"/>
          <p:cNvSpPr/>
          <p:nvPr/>
        </p:nvSpPr>
        <p:spPr>
          <a:xfrm>
            <a:off x="566928" y="5586984"/>
            <a:ext cx="11027664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13232" y="5724144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1" name="Text 29"/>
          <p:cNvSpPr/>
          <p:nvPr/>
        </p:nvSpPr>
        <p:spPr>
          <a:xfrm>
            <a:off x="713232" y="57241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1481328" y="570585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 &amp; Hướng phát triển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053328" y="5705856"/>
            <a:ext cx="535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Hạn chế · lỗi đã biết · roadmap · kết luận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· BỐI CẢNH &amp; VẤN ĐỀ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Vấn đề: đọc manga gốc vẫn còn nhiều rào cản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47088"/>
            <a:ext cx="11027664" cy="123444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11027664" cy="1234440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783080"/>
            <a:ext cx="103875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“Thiếu một nền tảng dịch manga tự động có AI hiểu ngữ cảnh và hỏi–đáp thông minh.”</a:t>
            </a:r>
            <a:endParaRPr lang="en-US" sz="2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hưởng tới cộng đồng đọc manga Việt Nam (15–28 tuổi) muốn tiếp cận truyện chất lượng cao chưa có bản dịch.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30936" y="3374136"/>
            <a:ext cx="3493008" cy="23317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310128"/>
            <a:ext cx="3493008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584448"/>
            <a:ext cx="457200" cy="4572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4224528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Fan-sub chậm &amp; không đều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791456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dịch cộng đồng ra chậm, chất lượng phụ thuộc nhóm dịch, dễ bỏ dở giữa chừng.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398264" y="3374136"/>
            <a:ext cx="3493008" cy="23317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4" name="Shape 12"/>
          <p:cNvSpPr/>
          <p:nvPr/>
        </p:nvSpPr>
        <p:spPr>
          <a:xfrm>
            <a:off x="4334256" y="3310128"/>
            <a:ext cx="3493008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0288" y="3584448"/>
            <a:ext cx="457200" cy="4572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16" name="Text 14"/>
          <p:cNvSpPr/>
          <p:nvPr/>
        </p:nvSpPr>
        <p:spPr>
          <a:xfrm>
            <a:off x="4590288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90288" y="4224528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cụ dịch mất ngữ cảnh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590288" y="4791456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Lens / dịch từng câu không giữ được xưng hô, mạch truyện, sắc thái nhân vật.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65592" y="3374136"/>
            <a:ext cx="3493008" cy="23317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0" name="Shape 18"/>
          <p:cNvSpPr/>
          <p:nvPr/>
        </p:nvSpPr>
        <p:spPr>
          <a:xfrm>
            <a:off x="8101584" y="3310128"/>
            <a:ext cx="3493008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57616" y="3584448"/>
            <a:ext cx="457200" cy="4572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2" name="Text 20"/>
          <p:cNvSpPr/>
          <p:nvPr/>
        </p:nvSpPr>
        <p:spPr>
          <a:xfrm>
            <a:off x="8357616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57616" y="4224528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thể hỏi về nội dung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8357616" y="4791456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đọc muốn hỏi “nhân vật này là ai?” nhưng không có kênh tra cứu tức thời.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· GIẢI PHÁP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StoryLens — dịch có ngữ cảnh + hỏi–đáp RAG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47088"/>
            <a:ext cx="6126480" cy="429768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6126480" cy="429768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2011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TUYÊN NGÔN ĐỊNH VỊ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86968" y="233172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 </a:t>
            </a:r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đọc manga Việt (15–28 tuổi)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muốn đọc truyện Nhật chưa có bản dịch chính thức,
</a:t>
            </a:r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StoryLens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 phép tải trang truyện lên, </a:t>
            </a:r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động dịch sang tiếng Việt có ngữ cảnh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và </a:t>
            </a:r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 AI bất kỳ điều gì về nội dung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429768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KHÁC BIỆT 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duy nhất kết hợp dịch theo ngữ cảnh + RAG Q&amp;A cho manga tiếng Việt — hiểu toàn bộ câu chuyện, không chỉ từng câu rời rạc.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04888" y="1847088"/>
            <a:ext cx="4553712" cy="1005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0" name="Shape 8"/>
          <p:cNvSpPr/>
          <p:nvPr/>
        </p:nvSpPr>
        <p:spPr>
          <a:xfrm>
            <a:off x="7040880" y="1783080"/>
            <a:ext cx="4553712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87184" y="2011680"/>
            <a:ext cx="548640" cy="54864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12" name="Text 10"/>
          <p:cNvSpPr/>
          <p:nvPr/>
        </p:nvSpPr>
        <p:spPr>
          <a:xfrm>
            <a:off x="7187184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909560" y="1911096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Dịch giữ ngữ cảnh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09560" y="2240280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Xưng hô, mạch truyện &amp; sắc thái được Gemini xử lý theo cả trang.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04888" y="2971800"/>
            <a:ext cx="4553712" cy="1005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6" name="Shape 14"/>
          <p:cNvSpPr/>
          <p:nvPr/>
        </p:nvSpPr>
        <p:spPr>
          <a:xfrm>
            <a:off x="7040880" y="2907792"/>
            <a:ext cx="4553712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87184" y="3136392"/>
            <a:ext cx="548640" cy="5486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8" name="Text 16"/>
          <p:cNvSpPr/>
          <p:nvPr/>
        </p:nvSpPr>
        <p:spPr>
          <a:xfrm>
            <a:off x="7187184" y="3136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909560" y="3035808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overlay liền mạch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909560" y="3364992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dịch phủ đúng bong bóng; bật/tắt so sánh bản gốc.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104888" y="4096512"/>
            <a:ext cx="4553712" cy="1005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2" name="Shape 20"/>
          <p:cNvSpPr/>
          <p:nvPr/>
        </p:nvSpPr>
        <p:spPr>
          <a:xfrm>
            <a:off x="7040880" y="4032504"/>
            <a:ext cx="4553712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87184" y="4261104"/>
            <a:ext cx="548640" cy="5486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4" name="Text 22"/>
          <p:cNvSpPr/>
          <p:nvPr/>
        </p:nvSpPr>
        <p:spPr>
          <a:xfrm>
            <a:off x="7187184" y="42611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909560" y="4160520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Hỏi–đáp RAG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909560" y="4489704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Đặt câu hỏi về nội dung, AI trả lời kèm nguồn trích.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104888" y="5221224"/>
            <a:ext cx="4553712" cy="1005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8" name="Shape 26"/>
          <p:cNvSpPr/>
          <p:nvPr/>
        </p:nvSpPr>
        <p:spPr>
          <a:xfrm>
            <a:off x="7040880" y="5157216"/>
            <a:ext cx="4553712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87184" y="5385816"/>
            <a:ext cx="548640" cy="5486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0" name="Text 28"/>
          <p:cNvSpPr/>
          <p:nvPr/>
        </p:nvSpPr>
        <p:spPr>
          <a:xfrm>
            <a:off x="7187184" y="5385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909560" y="5285232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Cộng đồng &amp; thư viện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909560" y="5614416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Xuất bản chương, chia sẻ link, diễn đàn, bình luận.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· ĐỊNH VỊ CẠNH TRANH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các lựa chọn hiện có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11027664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737360"/>
                <a:gridCol w="2148840"/>
                <a:gridCol w="2148840"/>
                <a:gridCol w="1700784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Giải pháp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Dịch ảnh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Hiểu ngữ cảnh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Hỏi–đáp 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Đọc overlay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Lens / OCR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DeepL · ChatGPT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Thủ công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Một phần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 realtime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Fan-sub thủ công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Thủ công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Ảnh dịch sẵn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StoryLens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Tự động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 (cả trang)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 (RAG)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21792" y="5861304"/>
            <a:ext cx="11027664" cy="65836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6" name="Shape 3"/>
          <p:cNvSpPr/>
          <p:nvPr/>
        </p:nvSpPr>
        <p:spPr>
          <a:xfrm>
            <a:off x="566928" y="5806440"/>
            <a:ext cx="11027664" cy="658368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6968" y="5806440"/>
            <a:ext cx="10387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học được →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hợp tốc độ tự động của máy + độ chính xác giữ ngữ cảnh của người, cộng thêm khả năng hỏi–đáp mà chưa đối thủ nào có.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 · NGƯỜI DÙNG MỤC TIÊU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nhóm người dùng chính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3493008" cy="41148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3493008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810512"/>
            <a:ext cx="3493008" cy="8229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938528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Sinh viên đại học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3008376" y="1993392"/>
            <a:ext cx="82296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9" name="Text 7"/>
          <p:cNvSpPr/>
          <p:nvPr/>
        </p:nvSpPr>
        <p:spPr>
          <a:xfrm>
            <a:off x="3008376" y="199339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18–25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83464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3090672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manga Nhật, kiểm tra bản dịch, tìm hiểu nội dung sâu.</a:t>
            </a:r>
            <a:endParaRPr lang="en-US" sz="1280" dirty="0"/>
          </a:p>
        </p:txBody>
      </p:sp>
      <p:sp>
        <p:nvSpPr>
          <p:cNvPr id="12" name="Text 10"/>
          <p:cNvSpPr/>
          <p:nvPr/>
        </p:nvSpPr>
        <p:spPr>
          <a:xfrm>
            <a:off x="822960" y="429768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 ĐỢI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4553712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chính xác; AI trả lời chi tiết về nhân vật &amp; cốt truyện.</a:t>
            </a:r>
            <a:endParaRPr lang="en-US" sz="1280" dirty="0"/>
          </a:p>
        </p:txBody>
      </p:sp>
      <p:sp>
        <p:nvSpPr>
          <p:cNvPr id="14" name="Shape 12"/>
          <p:cNvSpPr/>
          <p:nvPr/>
        </p:nvSpPr>
        <p:spPr>
          <a:xfrm>
            <a:off x="4398264" y="1874520"/>
            <a:ext cx="3493008" cy="41148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5" name="Shape 13"/>
          <p:cNvSpPr/>
          <p:nvPr/>
        </p:nvSpPr>
        <p:spPr>
          <a:xfrm>
            <a:off x="4334256" y="1810512"/>
            <a:ext cx="3493008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34256" y="1810512"/>
            <a:ext cx="3493008" cy="8229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4590288" y="1938528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sinh THPT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6775704" y="1993392"/>
            <a:ext cx="82296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Text 17"/>
          <p:cNvSpPr/>
          <p:nvPr/>
        </p:nvSpPr>
        <p:spPr>
          <a:xfrm>
            <a:off x="6775704" y="199339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15–18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90288" y="283464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90288" y="3090672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truyện mới, thảo luận với bạn bè, nắm nhanh nội dung.</a:t>
            </a:r>
            <a:endParaRPr lang="en-US" sz="1280" dirty="0"/>
          </a:p>
        </p:txBody>
      </p:sp>
      <p:sp>
        <p:nvSpPr>
          <p:cNvPr id="22" name="Text 20"/>
          <p:cNvSpPr/>
          <p:nvPr/>
        </p:nvSpPr>
        <p:spPr>
          <a:xfrm>
            <a:off x="4590288" y="429768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 ĐỢI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90288" y="4553712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diện dễ dùng, dịch nhanh, hỏi được về cốt truyện.</a:t>
            </a:r>
            <a:endParaRPr lang="en-US" sz="1280" dirty="0"/>
          </a:p>
        </p:txBody>
      </p:sp>
      <p:sp>
        <p:nvSpPr>
          <p:cNvPr id="24" name="Shape 22"/>
          <p:cNvSpPr/>
          <p:nvPr/>
        </p:nvSpPr>
        <p:spPr>
          <a:xfrm>
            <a:off x="8165592" y="1874520"/>
            <a:ext cx="3493008" cy="41148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5" name="Shape 23"/>
          <p:cNvSpPr/>
          <p:nvPr/>
        </p:nvSpPr>
        <p:spPr>
          <a:xfrm>
            <a:off x="8101584" y="1810512"/>
            <a:ext cx="3493008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01584" y="1810512"/>
            <a:ext cx="3493008" cy="8229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7" name="Text 25"/>
          <p:cNvSpPr/>
          <p:nvPr/>
        </p:nvSpPr>
        <p:spPr>
          <a:xfrm>
            <a:off x="8357616" y="1938528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creator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0543032" y="1993392"/>
            <a:ext cx="82296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9" name="Text 27"/>
          <p:cNvSpPr/>
          <p:nvPr/>
        </p:nvSpPr>
        <p:spPr>
          <a:xfrm>
            <a:off x="10543032" y="199339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25–35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57616" y="283464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357616" y="3090672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video review manga, giải thích plot cho khán giả.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8357616" y="429768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 ĐỢI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57616" y="4553712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chi tiết, batch cả chương, sẵn sàng trả phí premium.</a:t>
            </a:r>
            <a:endParaRPr lang="en-US" sz="1280" dirty="0"/>
          </a:p>
        </p:txBody>
      </p:sp>
      <p:sp>
        <p:nvSpPr>
          <p:cNvPr id="34" name="Text 32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 · LUỒNG NGHIỆP VỤ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use case chính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810512"/>
            <a:ext cx="1170432" cy="128016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75104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66928" y="256032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938528" y="1975104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&amp; Dịch trang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938528" y="2377440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Tải 1 trang → pipeline AI phát hiện, đọc, xoá nền, dịch, render chữ Việt.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73368" y="1874520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0" y="1810512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1810512"/>
            <a:ext cx="11704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1975104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309360" y="256032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680960" y="1975104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overlay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7680960" y="2377440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Xem bản dịch phủ bong bóng; bật/tắt, copy, từ điển bong bóng, nhiều chế độ đọc.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" y="3282696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218688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218688"/>
            <a:ext cx="1170432" cy="1280160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8328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66928" y="396849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938528" y="3383280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cả chương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1938528" y="3785616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nhiều trang → xử lý tuần tự, tiến trình realtime qua WebSocket.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73368" y="3282696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6" name="Shape 24"/>
          <p:cNvSpPr/>
          <p:nvPr/>
        </p:nvSpPr>
        <p:spPr>
          <a:xfrm>
            <a:off x="6309360" y="3218688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09360" y="3218688"/>
            <a:ext cx="1170432" cy="128016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38328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309360" y="396849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680960" y="3383280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Hỏi–đáp RAG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7680960" y="3785616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Đặt câu hỏi về nội dung; tìm ngữ nghĩa trong pgvector + Gemini trả lời.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30936" y="4690872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" y="4626864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4626864"/>
            <a:ext cx="1170432" cy="1280160"/>
          </a:xfrm>
          <a:prstGeom prst="rect">
            <a:avLst/>
          </a:prstGeom>
          <a:solidFill>
            <a:srgbClr val="E0A32E"/>
          </a:solidFill>
          <a:ln/>
        </p:spPr>
      </p:sp>
      <p:sp>
        <p:nvSpPr>
          <p:cNvPr id="35" name="Text 33"/>
          <p:cNvSpPr/>
          <p:nvPr/>
        </p:nvSpPr>
        <p:spPr>
          <a:xfrm>
            <a:off x="566928" y="4791456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UC05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566928" y="537667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938528" y="4791456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Xuất bản &amp; chia sẻ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1938528" y="5193792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Đăng chương lên thư viện công khai; chia sẻ link có hạn (TTL).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73368" y="4690872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0" name="Shape 38"/>
          <p:cNvSpPr/>
          <p:nvPr/>
        </p:nvSpPr>
        <p:spPr>
          <a:xfrm>
            <a:off x="6309360" y="4626864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09360" y="4626864"/>
            <a:ext cx="1170432" cy="1280160"/>
          </a:xfrm>
          <a:prstGeom prst="rect">
            <a:avLst/>
          </a:prstGeom>
          <a:solidFill>
            <a:srgbClr val="3A332C"/>
          </a:solidFill>
          <a:ln/>
        </p:spPr>
      </p:sp>
      <p:sp>
        <p:nvSpPr>
          <p:cNvPr id="42" name="Text 40"/>
          <p:cNvSpPr/>
          <p:nvPr/>
        </p:nvSpPr>
        <p:spPr>
          <a:xfrm>
            <a:off x="6309360" y="4791456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UC06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6309360" y="537667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680960" y="4791456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trị (Admin)</a:t>
            </a:r>
            <a:endParaRPr lang="en-US" sz="1550" dirty="0"/>
          </a:p>
        </p:txBody>
      </p:sp>
      <p:sp>
        <p:nvSpPr>
          <p:cNvPr id="45" name="Text 43"/>
          <p:cNvSpPr/>
          <p:nvPr/>
        </p:nvSpPr>
        <p:spPr>
          <a:xfrm>
            <a:off x="7680960" y="5193792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tích, kiểm duyệt, giám sát sức khoẻ, cấu hình nguồn AI Module.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 · MÔ HÌNH USE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Sơ đồ use case tổng quát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898648" y="1874520"/>
            <a:ext cx="5943600" cy="42245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2834640" y="1810512"/>
            <a:ext cx="5943600" cy="422452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834640" y="190195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 StoryLens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flipV="1">
            <a:off x="1572768" y="2697480"/>
            <a:ext cx="1664208" cy="941832"/>
          </a:xfrm>
          <a:prstGeom prst="line">
            <a:avLst/>
          </a:prstGeom>
          <a:noFill/>
          <a:ln w="15875">
            <a:solidFill>
              <a:srgbClr val="B8AFA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72768" y="3639312"/>
            <a:ext cx="1664208" cy="292608"/>
          </a:xfrm>
          <a:prstGeom prst="line">
            <a:avLst/>
          </a:prstGeom>
          <a:noFill/>
          <a:ln w="15875">
            <a:solidFill>
              <a:srgbClr val="B8AFA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72768" y="3639312"/>
            <a:ext cx="1664208" cy="1527048"/>
          </a:xfrm>
          <a:prstGeom prst="line">
            <a:avLst/>
          </a:prstGeom>
          <a:noFill/>
          <a:ln w="15875">
            <a:solidFill>
              <a:srgbClr val="B8AFA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72768" y="2697480"/>
            <a:ext cx="4224528" cy="941832"/>
          </a:xfrm>
          <a:prstGeom prst="line">
            <a:avLst/>
          </a:prstGeom>
          <a:noFill/>
          <a:ln w="15875">
            <a:solidFill>
              <a:srgbClr val="B8AFA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2768" y="3639312"/>
            <a:ext cx="4224528" cy="292608"/>
          </a:xfrm>
          <a:prstGeom prst="line">
            <a:avLst/>
          </a:prstGeom>
          <a:noFill/>
          <a:ln w="15875">
            <a:solidFill>
              <a:srgbClr val="B8AFA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375904" y="5029200"/>
            <a:ext cx="1426464" cy="137160"/>
          </a:xfrm>
          <a:prstGeom prst="line">
            <a:avLst/>
          </a:prstGeom>
          <a:noFill/>
          <a:ln w="15875">
            <a:solidFill>
              <a:srgbClr val="B8AFA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75904" y="2697480"/>
            <a:ext cx="676656" cy="91440"/>
          </a:xfrm>
          <a:prstGeom prst="line">
            <a:avLst/>
          </a:prstGeom>
          <a:noFill/>
          <a:ln w="15875">
            <a:solidFill>
              <a:srgbClr val="9A7B3A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 flipV="1">
            <a:off x="8375904" y="3154680"/>
            <a:ext cx="676656" cy="777240"/>
          </a:xfrm>
          <a:prstGeom prst="line">
            <a:avLst/>
          </a:prstGeom>
          <a:noFill/>
          <a:ln w="15875">
            <a:solidFill>
              <a:srgbClr val="9A7B3A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3236976" y="2322576"/>
            <a:ext cx="2578608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915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28416" y="2322576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UC02  </a:t>
            </a:r>
            <a:pPr algn="ctr" indent="0" marL="0">
              <a:lnSpc>
                <a:spcPct val="90000"/>
              </a:lnSpc>
              <a:buNone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overlay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36976" y="3557016"/>
            <a:ext cx="2578608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85B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28416" y="3557016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285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UC03  </a:t>
            </a:r>
            <a:pPr algn="ctr" indent="0" marL="0">
              <a:lnSpc>
                <a:spcPct val="90000"/>
              </a:lnSpc>
              <a:buNone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cả chương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36976" y="4791456"/>
            <a:ext cx="2578608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A3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28416" y="4791456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UC05  </a:t>
            </a:r>
            <a:pPr algn="ctr" indent="0" marL="0">
              <a:lnSpc>
                <a:spcPct val="90000"/>
              </a:lnSpc>
              <a:buNone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Xuất bản &amp; chia sẻ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797296" y="2322576"/>
            <a:ext cx="2578608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031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88736" y="2322576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UC01  </a:t>
            </a:r>
            <a:pPr algn="ctr" indent="0" marL="0">
              <a:lnSpc>
                <a:spcPct val="90000"/>
              </a:lnSpc>
              <a:buNone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&amp; Dịch trang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797296" y="3557016"/>
            <a:ext cx="2578608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88736" y="3557016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UC04  </a:t>
            </a:r>
            <a:pPr algn="ctr" indent="0" marL="0">
              <a:lnSpc>
                <a:spcPct val="90000"/>
              </a:lnSpc>
              <a:buNone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Hỏi–đáp RAG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797296" y="4791456"/>
            <a:ext cx="2578608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332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88736" y="4791456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3A33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UC06  </a:t>
            </a:r>
            <a:pPr algn="ctr" indent="0" marL="0">
              <a:lnSpc>
                <a:spcPct val="90000"/>
              </a:lnSpc>
              <a:buNone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trị hệ thống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243584" y="3063240"/>
            <a:ext cx="256032" cy="2560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9151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71600" y="3319272"/>
            <a:ext cx="0" cy="475488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97280" y="3465576"/>
            <a:ext cx="548640" cy="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152144" y="3794760"/>
            <a:ext cx="219456" cy="329184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71600" y="3794760"/>
            <a:ext cx="219456" cy="329184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160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đọc</a:t>
            </a:r>
            <a:endParaRPr lang="en-US" sz="11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(User)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9838944" y="4297680"/>
            <a:ext cx="256032" cy="2560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E241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966960" y="4553712"/>
            <a:ext cx="0" cy="475488"/>
          </a:xfrm>
          <a:prstGeom prst="line">
            <a:avLst/>
          </a:prstGeom>
          <a:noFill/>
          <a:ln w="25400">
            <a:solidFill>
              <a:srgbClr val="9E241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692640" y="4700016"/>
            <a:ext cx="548640" cy="0"/>
          </a:xfrm>
          <a:prstGeom prst="line">
            <a:avLst/>
          </a:prstGeom>
          <a:noFill/>
          <a:ln w="25400">
            <a:solidFill>
              <a:srgbClr val="9E241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47504" y="5029200"/>
            <a:ext cx="219456" cy="329184"/>
          </a:xfrm>
          <a:prstGeom prst="line">
            <a:avLst/>
          </a:prstGeom>
          <a:noFill/>
          <a:ln w="25400">
            <a:solidFill>
              <a:srgbClr val="9E241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966960" y="5029200"/>
            <a:ext cx="219456" cy="329184"/>
          </a:xfrm>
          <a:prstGeom prst="line">
            <a:avLst/>
          </a:prstGeom>
          <a:noFill/>
          <a:ln w="25400">
            <a:solidFill>
              <a:srgbClr val="9E241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961120" y="5394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trị viên</a:t>
            </a:r>
            <a:endParaRPr lang="en-US" sz="11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(Admin)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942832" y="2487168"/>
            <a:ext cx="1828800" cy="896112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942832" y="2487168"/>
            <a:ext cx="1828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«hệ phụ»
</a:t>
            </a:r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Module + Gemini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66928" y="6144768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Tác nhân chính: </a:t>
            </a:r>
            <a:pPr algn="ctr" indent="0" marL="0">
              <a:buNone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đọc, Quản trị viên.   </a:t>
            </a:r>
            <a:pPr algn="ctr" indent="0" marL="0">
              <a:buNone/>
            </a:pPr>
            <a:r>
              <a:rPr lang="en-US" sz="1100" b="1" dirty="0">
                <a:solidFill>
                  <a:srgbClr val="9A7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Tác nhân phụ: </a:t>
            </a:r>
            <a:pPr algn="ctr" indent="0" marL="0">
              <a:buNone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Module + Gemini (hỗ trợ UC01 dịch &amp; UC04 Q&amp;A).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 · YÊU CẦU CHỨC NĂNG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nhóm yêu cầu chức năng (F01–F09)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47088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92938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18488" y="1929384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Xác thực &amp; hồ sơ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68096" y="2350008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Đăng ký/đăng nhập, cookie HttpOnly, avatar, đổi mật khẩu/email, GDPR.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92168" y="1847088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0" name="Shape 8"/>
          <p:cNvSpPr/>
          <p:nvPr/>
        </p:nvSpPr>
        <p:spPr>
          <a:xfrm>
            <a:off x="4328160" y="1783080"/>
            <a:ext cx="350520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9328" y="192938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79720" y="1929384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ảnh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29328" y="2350008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ảnh hoặc batch; kiểm tra định dạng/kích thước; gắn series/chapter.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3400" y="1847088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5" name="Shape 13"/>
          <p:cNvSpPr/>
          <p:nvPr/>
        </p:nvSpPr>
        <p:spPr>
          <a:xfrm>
            <a:off x="8089392" y="1783080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90560" y="192938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0952" y="1929384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AI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290560" y="2350008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→ OCR → inpaint → dịch → embedding; trạng thái &amp; % tiến trình.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" y="3291840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227832"/>
            <a:ext cx="350520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337413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618488" y="3374136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&amp; overlay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68096" y="3794760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Xem/so sánh bản dịch, sửa bản dịch per-bubble, lịch sử hiệu đính.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92168" y="3291840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5" name="Shape 23"/>
          <p:cNvSpPr/>
          <p:nvPr/>
        </p:nvSpPr>
        <p:spPr>
          <a:xfrm>
            <a:off x="4328160" y="3227832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29328" y="337413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379720" y="3374136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Hỏi–đáp RAG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29328" y="3794760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Hỏi theo trang/series; tìm ngữ nghĩa; trả lời kèm nguồn trích.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53400" y="3291840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0" name="Shape 28"/>
          <p:cNvSpPr/>
          <p:nvPr/>
        </p:nvSpPr>
        <p:spPr>
          <a:xfrm>
            <a:off x="8089392" y="3227832"/>
            <a:ext cx="350520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90560" y="337413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140952" y="3374136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&amp; chapter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8290560" y="3794760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 series/chương, gán &amp; sắp thứ tự trang, ảnh bìa tự động.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30936" y="4736592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5" name="Shape 33"/>
          <p:cNvSpPr/>
          <p:nvPr/>
        </p:nvSpPr>
        <p:spPr>
          <a:xfrm>
            <a:off x="566928" y="4672584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" y="48188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618488" y="4818888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Lịch sử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768096" y="5239512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Danh sách trang/series đã xử lý, lọc &amp; phân trang, tiếp tục đọc.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392168" y="4736592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0" name="Shape 38"/>
          <p:cNvSpPr/>
          <p:nvPr/>
        </p:nvSpPr>
        <p:spPr>
          <a:xfrm>
            <a:off x="4328160" y="4672584"/>
            <a:ext cx="350520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29328" y="48188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F08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5379720" y="4818888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&amp; gói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4529328" y="5239512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5/ngày; gói basic/pro/premium; ledger giao dịch; Stripe.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8153400" y="4736592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5" name="Shape 43"/>
          <p:cNvSpPr/>
          <p:nvPr/>
        </p:nvSpPr>
        <p:spPr>
          <a:xfrm>
            <a:off x="8089392" y="4672584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90560" y="48188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F09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9140952" y="4818888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trị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8290560" y="5239512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tích, quản lý người dùng, kiểm duyệt, sức khoẻ, cấu hình, audit.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 · YÊU CẦU PHI CHỨC NĂNG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Chất lượng: hiệu năng, bảo mật, sẵn sàng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2551176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2551176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011680"/>
            <a:ext cx="2185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 giây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49808" y="263347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Phản hồi UI tương tác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56432" y="1874520"/>
            <a:ext cx="2551176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9" name="Shape 7"/>
          <p:cNvSpPr/>
          <p:nvPr/>
        </p:nvSpPr>
        <p:spPr>
          <a:xfrm>
            <a:off x="3392424" y="1810512"/>
            <a:ext cx="2551176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75304" y="2011680"/>
            <a:ext cx="2185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30 giây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575304" y="263347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 lý AI mỗi trang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1874520"/>
            <a:ext cx="2551176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0" y="1810512"/>
            <a:ext cx="2551176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011680"/>
            <a:ext cx="2185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5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10 giây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0" y="263347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Trả lời Q&amp;A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07424" y="1874520"/>
            <a:ext cx="2551176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9043416" y="1810512"/>
            <a:ext cx="2551176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26296" y="2011680"/>
            <a:ext cx="2185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5 ảnh → 100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226296" y="263347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theo gói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" y="3429000"/>
            <a:ext cx="5285232" cy="27889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66928" y="3364992"/>
            <a:ext cx="5285232" cy="278892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3639312"/>
            <a:ext cx="146304" cy="38404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3" name="Text 21"/>
          <p:cNvSpPr/>
          <p:nvPr/>
        </p:nvSpPr>
        <p:spPr>
          <a:xfrm>
            <a:off x="1078992" y="3621024"/>
            <a:ext cx="4553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Bảo mật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41248" y="4142232"/>
            <a:ext cx="47365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HttpOnly — không lộ token cho JS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user/admin + RLS trên Supabase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Rate-limit, validate input, không hardcode secret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headers + CSP chặt, captcha Turnstile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6373368" y="3429000"/>
            <a:ext cx="5285232" cy="27889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6" name="Shape 24"/>
          <p:cNvSpPr/>
          <p:nvPr/>
        </p:nvSpPr>
        <p:spPr>
          <a:xfrm>
            <a:off x="6309360" y="3364992"/>
            <a:ext cx="5285232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5392" y="3639312"/>
            <a:ext cx="146304" cy="384048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28" name="Text 26"/>
          <p:cNvSpPr/>
          <p:nvPr/>
        </p:nvSpPr>
        <p:spPr>
          <a:xfrm>
            <a:off x="6821424" y="3621024"/>
            <a:ext cx="4553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Vận hành &amp; Toàn vẹn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583680" y="4142232"/>
            <a:ext cx="47365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CDN Vercel; backend Docker co giãn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Semaphore giới hạn luồng AI, tránh OOM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credit chỉ ghi thêm (append-only)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đánh dấu 'failed' cho trang treo khi restart</a:t>
            </a:r>
            <a:endParaRPr lang="en-US" sz="1230" dirty="0"/>
          </a:p>
        </p:txBody>
      </p:sp>
      <p:sp>
        <p:nvSpPr>
          <p:cNvPr id="30" name="Text 2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KIẾN TRÚC HỆ THỐNG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dịch vụ triển khai độc lập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47088"/>
            <a:ext cx="5120640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512064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783080"/>
            <a:ext cx="5120640" cy="47548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01368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— Next.js 16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313432"/>
            <a:ext cx="4791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· React 19 · TS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606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Pages: Upload · Reader · Q&amp;A · Library · Admin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api.ts: fetch wrapper + retry cold-start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" y="3493008"/>
            <a:ext cx="5120640" cy="14173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429000"/>
            <a:ext cx="512064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3429000"/>
            <a:ext cx="5120640" cy="47548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447288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API — FastAPI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3959352"/>
            <a:ext cx="4791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· Docker · Singapore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49808" y="4251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Routers: auth · upload · qa · series · admin…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Services: ai_pipeline · rag · credit · captcha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67728" y="1847088"/>
            <a:ext cx="4690872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6903720" y="1783080"/>
            <a:ext cx="4690872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1783080"/>
            <a:ext cx="4690872" cy="475488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19" name="Text 17"/>
          <p:cNvSpPr/>
          <p:nvPr/>
        </p:nvSpPr>
        <p:spPr>
          <a:xfrm>
            <a:off x="7068312" y="1801368"/>
            <a:ext cx="4361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068312" y="2313432"/>
            <a:ext cx="4361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AWS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086600" y="2606040"/>
            <a:ext cx="4325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(RAG) + pg_trgm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· Storage (originals/thumbnails)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967728" y="3493008"/>
            <a:ext cx="4690872" cy="14173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3" name="Shape 21"/>
          <p:cNvSpPr/>
          <p:nvPr/>
        </p:nvSpPr>
        <p:spPr>
          <a:xfrm>
            <a:off x="6903720" y="3429000"/>
            <a:ext cx="4690872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03720" y="3429000"/>
            <a:ext cx="4690872" cy="475488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5" name="Text 23"/>
          <p:cNvSpPr/>
          <p:nvPr/>
        </p:nvSpPr>
        <p:spPr>
          <a:xfrm>
            <a:off x="7068312" y="3447288"/>
            <a:ext cx="4361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Module — FastAPI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068312" y="3959352"/>
            <a:ext cx="4361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Spaces · ~4GB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086600" y="4251960"/>
            <a:ext cx="4325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· manga-ocr · LaMa · render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 embedding câu (pgvector)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967728" y="5138928"/>
            <a:ext cx="4690872" cy="8412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903720" y="5074920"/>
            <a:ext cx="4690872" cy="8412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86600" y="5074920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 API   </a:t>
            </a:r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ngữ cảnh + sinh câu trả lời RAG · xoay vòng nhiều API key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127248" y="3154680"/>
            <a:ext cx="0" cy="27432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3264408" y="3145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· cookie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669280" y="4114800"/>
            <a:ext cx="1234440" cy="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5806440" y="38221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235440" y="4846320"/>
            <a:ext cx="0" cy="22860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PIPELINE DỊCH 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ảnh gốc đến bản dịch overlay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286000"/>
            <a:ext cx="1670304" cy="54864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24128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13232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bong bóng thoại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55520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502408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Shape 10"/>
          <p:cNvSpPr/>
          <p:nvPr/>
        </p:nvSpPr>
        <p:spPr>
          <a:xfrm>
            <a:off x="2438400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38400" y="2286000"/>
            <a:ext cx="1670304" cy="5486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4" name="Text 12"/>
          <p:cNvSpPr/>
          <p:nvPr/>
        </p:nvSpPr>
        <p:spPr>
          <a:xfrm>
            <a:off x="2529840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895600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manga-ocr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584704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chữ Nhật trong bbox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26992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373880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Shape 17"/>
          <p:cNvSpPr/>
          <p:nvPr/>
        </p:nvSpPr>
        <p:spPr>
          <a:xfrm>
            <a:off x="4309872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09872" y="2286000"/>
            <a:ext cx="1670304" cy="548640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21" name="Text 19"/>
          <p:cNvSpPr/>
          <p:nvPr/>
        </p:nvSpPr>
        <p:spPr>
          <a:xfrm>
            <a:off x="4401312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67072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456176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Xoá chữ gốc (inpaint)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98464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245352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6" name="Shape 24"/>
          <p:cNvSpPr/>
          <p:nvPr/>
        </p:nvSpPr>
        <p:spPr>
          <a:xfrm>
            <a:off x="6181344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81344" y="2286000"/>
            <a:ext cx="1670304" cy="54864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8" name="Text 26"/>
          <p:cNvSpPr/>
          <p:nvPr/>
        </p:nvSpPr>
        <p:spPr>
          <a:xfrm>
            <a:off x="6272784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638544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327648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có ngữ cảnh → Việt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869936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116824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3" name="Shape 31"/>
          <p:cNvSpPr/>
          <p:nvPr/>
        </p:nvSpPr>
        <p:spPr>
          <a:xfrm>
            <a:off x="8052816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52816" y="2286000"/>
            <a:ext cx="1670304" cy="548640"/>
          </a:xfrm>
          <a:prstGeom prst="rect">
            <a:avLst/>
          </a:prstGeom>
          <a:solidFill>
            <a:srgbClr val="E0A32E"/>
          </a:solidFill>
          <a:ln/>
        </p:spPr>
      </p:sp>
      <p:sp>
        <p:nvSpPr>
          <p:cNvPr id="35" name="Text 33"/>
          <p:cNvSpPr/>
          <p:nvPr/>
        </p:nvSpPr>
        <p:spPr>
          <a:xfrm>
            <a:off x="8144256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510016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199120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Vẽ chữ Việt vào bbox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741408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988296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0" name="Shape 38"/>
          <p:cNvSpPr/>
          <p:nvPr/>
        </p:nvSpPr>
        <p:spPr>
          <a:xfrm>
            <a:off x="9924288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924288" y="2286000"/>
            <a:ext cx="1670304" cy="548640"/>
          </a:xfrm>
          <a:prstGeom prst="rect">
            <a:avLst/>
          </a:prstGeom>
          <a:solidFill>
            <a:srgbClr val="3A332C"/>
          </a:solidFill>
          <a:ln/>
        </p:spPr>
      </p:sp>
      <p:sp>
        <p:nvSpPr>
          <p:cNvPr id="42" name="Text 40"/>
          <p:cNvSpPr/>
          <p:nvPr/>
        </p:nvSpPr>
        <p:spPr>
          <a:xfrm>
            <a:off x="10015728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0381488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10070592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hoá → pgvector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30936" y="4956048"/>
            <a:ext cx="11027664" cy="105156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46" name="Shape 44"/>
          <p:cNvSpPr/>
          <p:nvPr/>
        </p:nvSpPr>
        <p:spPr>
          <a:xfrm>
            <a:off x="566928" y="4892040"/>
            <a:ext cx="11027664" cy="1051560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6968" y="4892040"/>
            <a:ext cx="103875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spc="1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VÀO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trang manga (JPG/PNG/WebP ≤ 10MB)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b="1" spc="1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 đã dịch (manga-thumbnails) + bubble_data + embeddings · tiến trình realtime qua WebSocket, huỷ hợp tác được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HỎI–ĐÁP THÔNG MINH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Q&amp;A trên nội dung truyện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2167128"/>
            <a:ext cx="2523744" cy="2194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2103120"/>
            <a:ext cx="2523744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" y="2322576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68096" y="30358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68096" y="3474720"/>
            <a:ext cx="21214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dùng hỏi về 1 trang / series bằng ngôn ngữ tự nhiên.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27248" y="3200400"/>
            <a:ext cx="237744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465576" y="2167128"/>
            <a:ext cx="2523744" cy="2194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01568" y="2103120"/>
            <a:ext cx="2523744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02736" y="2322576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4" name="Text 12"/>
          <p:cNvSpPr/>
          <p:nvPr/>
        </p:nvSpPr>
        <p:spPr>
          <a:xfrm>
            <a:off x="360273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602736" y="30358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02736" y="3474720"/>
            <a:ext cx="21214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embedding vector hoá câu hỏi.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61888" y="3200400"/>
            <a:ext cx="237744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300216" y="2167128"/>
            <a:ext cx="2523744" cy="2194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236208" y="2103120"/>
            <a:ext cx="2523744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37376" y="2322576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1" name="Text 19"/>
          <p:cNvSpPr/>
          <p:nvPr/>
        </p:nvSpPr>
        <p:spPr>
          <a:xfrm>
            <a:off x="643737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37376" y="30358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pgvector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37376" y="3474720"/>
            <a:ext cx="21214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search top-k đoạn text bong bóng liên quan.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796528" y="3200400"/>
            <a:ext cx="237744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134856" y="2167128"/>
            <a:ext cx="2523744" cy="2194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6" name="Shape 24"/>
          <p:cNvSpPr/>
          <p:nvPr/>
        </p:nvSpPr>
        <p:spPr>
          <a:xfrm>
            <a:off x="9070848" y="2103120"/>
            <a:ext cx="2523744" cy="21945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72016" y="2322576"/>
            <a:ext cx="566928" cy="56692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8" name="Text 26"/>
          <p:cNvSpPr/>
          <p:nvPr/>
        </p:nvSpPr>
        <p:spPr>
          <a:xfrm>
            <a:off x="927201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9272016" y="30358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Sinh câu trả lời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272016" y="3474720"/>
            <a:ext cx="21214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+ câu hỏi → Gemini (xoay vòng key) trả lời.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30936" y="4956048"/>
            <a:ext cx="3493008" cy="1051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892040"/>
            <a:ext cx="3493008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6384" y="503834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credit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786384" y="551383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trừ mỗi câu trả lời thành công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398264" y="4956048"/>
            <a:ext cx="3493008" cy="1051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6" name="Shape 34"/>
          <p:cNvSpPr/>
          <p:nvPr/>
        </p:nvSpPr>
        <p:spPr>
          <a:xfrm>
            <a:off x="4334256" y="4892040"/>
            <a:ext cx="3493008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53712" y="503834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nguồn trích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4553712" y="551383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đính kèm đoạn text làm bằng chứng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165592" y="4956048"/>
            <a:ext cx="3493008" cy="1051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4892040"/>
            <a:ext cx="3493008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21040" y="503834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85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768-dim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8321040" y="551383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gemini-001 · pgvector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MÔ HÌNH ML &amp; ĐÁNH GIÁ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 huấn luyện vượt ngưỡng đặt 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5806440" cy="41148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580644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956816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 · Phát hiện bong bóng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41248" y="226771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Manga109-s · test 956 ảnh / 14.130 box · ngưỡng 85%</a:t>
            </a:r>
            <a:endParaRPr lang="en-US" sz="11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704088" y="2606040"/>
          <a:ext cx="55321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922008" y="1874520"/>
            <a:ext cx="4736592" cy="197510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0" name="Shape 7"/>
          <p:cNvSpPr/>
          <p:nvPr/>
        </p:nvSpPr>
        <p:spPr>
          <a:xfrm>
            <a:off x="6858000" y="1810512"/>
            <a:ext cx="4736592" cy="1975104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0" y="1810512"/>
            <a:ext cx="146304" cy="197510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Text 9"/>
          <p:cNvSpPr/>
          <p:nvPr/>
        </p:nvSpPr>
        <p:spPr>
          <a:xfrm>
            <a:off x="7168896" y="1956816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manga-ocr (fine-tuned)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168896" y="2322576"/>
            <a:ext cx="4279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tiếng Nhật · test 14.130 mẫu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168896" y="2679192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6.1%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168896" y="320040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552688" y="2679192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93.9%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552688" y="320040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Char-Acc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936480" y="2679192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67.5%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9936480" y="320040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922008" y="3995928"/>
            <a:ext cx="4736592" cy="197510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1" name="Shape 18"/>
          <p:cNvSpPr/>
          <p:nvPr/>
        </p:nvSpPr>
        <p:spPr>
          <a:xfrm>
            <a:off x="6858000" y="3931920"/>
            <a:ext cx="4736592" cy="1975104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858000" y="3931920"/>
            <a:ext cx="146304" cy="1975104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3" name="Text 20"/>
          <p:cNvSpPr/>
          <p:nvPr/>
        </p:nvSpPr>
        <p:spPr>
          <a:xfrm>
            <a:off x="7168896" y="4078224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Flash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7168896" y="4443984"/>
            <a:ext cx="4279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ngữ cảnh · human-in-the-loop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168896" y="4800600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80%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168896" y="5321808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👍 hài lòng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552688" y="4800600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 Flash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8552688" y="5321808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936480" y="4800600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768-dim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9936480" y="5321808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CÔNG NGHỆ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Ngăn xếp công nghệ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2551176" cy="41605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2551176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810512"/>
            <a:ext cx="2551176" cy="65836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810512"/>
            <a:ext cx="2185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679192"/>
            <a:ext cx="21488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(App Router)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· TypeScript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+ Framer Motion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+ offline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56432" y="1874520"/>
            <a:ext cx="2551176" cy="41605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0" name="Shape 8"/>
          <p:cNvSpPr/>
          <p:nvPr/>
        </p:nvSpPr>
        <p:spPr>
          <a:xfrm>
            <a:off x="3392424" y="1810512"/>
            <a:ext cx="2551176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92424" y="1810512"/>
            <a:ext cx="2551176" cy="65836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Text 10"/>
          <p:cNvSpPr/>
          <p:nvPr/>
        </p:nvSpPr>
        <p:spPr>
          <a:xfrm>
            <a:off x="3575304" y="1810512"/>
            <a:ext cx="2185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11880" y="2679192"/>
            <a:ext cx="21488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Python 3.11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Uvicorn / Gunicorn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SlowAPI rate-limit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+ OpenTelemetry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81928" y="1874520"/>
            <a:ext cx="2551176" cy="41605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5" name="Shape 13"/>
          <p:cNvSpPr/>
          <p:nvPr/>
        </p:nvSpPr>
        <p:spPr>
          <a:xfrm>
            <a:off x="6217920" y="1810512"/>
            <a:ext cx="2551176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810512"/>
            <a:ext cx="2551176" cy="658368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1810512"/>
            <a:ext cx="2185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/ ML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7376" y="2679192"/>
            <a:ext cx="21488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(ultralytics)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manga-ocr (fine-tuned)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LaMa inpaint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07424" y="1874520"/>
            <a:ext cx="2551176" cy="41605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0" name="Shape 18"/>
          <p:cNvSpPr/>
          <p:nvPr/>
        </p:nvSpPr>
        <p:spPr>
          <a:xfrm>
            <a:off x="9043416" y="1810512"/>
            <a:ext cx="2551176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43416" y="1810512"/>
            <a:ext cx="2551176" cy="658368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22" name="Text 20"/>
          <p:cNvSpPr/>
          <p:nvPr/>
        </p:nvSpPr>
        <p:spPr>
          <a:xfrm>
            <a:off x="9226296" y="1810512"/>
            <a:ext cx="2185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&amp; Hạ tầng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262872" y="2679192"/>
            <a:ext cx="21488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· pg_trgm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· Render · HF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TÍNH NĂNG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Ngoài lõi dịch — một hệ sinh thái đầy đủ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066544"/>
            <a:ext cx="420624" cy="420624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0665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9888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nâng cao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Nhiều chế độ đọc, phím tắt, vuốt mobile, từ điển bong bóng, cảnh báo độ tin cậy thấp.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4392168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4328160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65904" y="2066544"/>
            <a:ext cx="420624" cy="42062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3" name="Text 11"/>
          <p:cNvSpPr/>
          <p:nvPr/>
        </p:nvSpPr>
        <p:spPr>
          <a:xfrm>
            <a:off x="4565904" y="20665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51120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QC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84192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Hiệu đính per-bubble (approve/reject), tìm–thay thế hàng loạt, phản hồi 👍/👎.</a:t>
            </a:r>
            <a:endParaRPr lang="en-US" sz="1230" dirty="0"/>
          </a:p>
        </p:txBody>
      </p:sp>
      <p:sp>
        <p:nvSpPr>
          <p:cNvPr id="16" name="Shape 14"/>
          <p:cNvSpPr/>
          <p:nvPr/>
        </p:nvSpPr>
        <p:spPr>
          <a:xfrm>
            <a:off x="8153400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8089392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7136" y="2066544"/>
            <a:ext cx="420624" cy="420624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327136" y="20665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912352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Thư viện &amp; chia sẻ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45424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Xuất bản chương công khai, đọc ẩn danh, chia sẻ link TTL + OG image.</a:t>
            </a:r>
            <a:endParaRPr lang="en-US" sz="1230" dirty="0"/>
          </a:p>
        </p:txBody>
      </p:sp>
      <p:sp>
        <p:nvSpPr>
          <p:cNvPr id="22" name="Shape 20"/>
          <p:cNvSpPr/>
          <p:nvPr/>
        </p:nvSpPr>
        <p:spPr>
          <a:xfrm>
            <a:off x="630936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3" name="Shape 21"/>
          <p:cNvSpPr/>
          <p:nvPr/>
        </p:nvSpPr>
        <p:spPr>
          <a:xfrm>
            <a:off x="566928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4197096"/>
            <a:ext cx="420624" cy="420624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5" name="Text 23"/>
          <p:cNvSpPr/>
          <p:nvPr/>
        </p:nvSpPr>
        <p:spPr>
          <a:xfrm>
            <a:off x="804672" y="4197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89888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Cộng đồng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22960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Diễn đàn (mention, đính kèm, vote), bình luận chương, hồ sơ /u/{username}.</a:t>
            </a:r>
            <a:endParaRPr lang="en-US" sz="1230" dirty="0"/>
          </a:p>
        </p:txBody>
      </p:sp>
      <p:sp>
        <p:nvSpPr>
          <p:cNvPr id="28" name="Shape 26"/>
          <p:cNvSpPr/>
          <p:nvPr/>
        </p:nvSpPr>
        <p:spPr>
          <a:xfrm>
            <a:off x="4392168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8160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65904" y="4197096"/>
            <a:ext cx="420624" cy="420624"/>
          </a:xfrm>
          <a:prstGeom prst="rect">
            <a:avLst/>
          </a:prstGeom>
          <a:solidFill>
            <a:srgbClr val="E0A32E"/>
          </a:solidFill>
          <a:ln/>
        </p:spPr>
      </p:sp>
      <p:sp>
        <p:nvSpPr>
          <p:cNvPr id="31" name="Text 29"/>
          <p:cNvSpPr/>
          <p:nvPr/>
        </p:nvSpPr>
        <p:spPr>
          <a:xfrm>
            <a:off x="4565904" y="4197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151120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Gamification (Wibu)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584192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Bookmark, rating, reading list, mục tiêu, XP/level, thành tựu + thông báo.</a:t>
            </a:r>
            <a:endParaRPr lang="en-US" sz="1230" dirty="0"/>
          </a:p>
        </p:txBody>
      </p:sp>
      <p:sp>
        <p:nvSpPr>
          <p:cNvPr id="34" name="Shape 32"/>
          <p:cNvSpPr/>
          <p:nvPr/>
        </p:nvSpPr>
        <p:spPr>
          <a:xfrm>
            <a:off x="8153400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5" name="Shape 33"/>
          <p:cNvSpPr/>
          <p:nvPr/>
        </p:nvSpPr>
        <p:spPr>
          <a:xfrm>
            <a:off x="8089392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27136" y="4197096"/>
            <a:ext cx="420624" cy="420624"/>
          </a:xfrm>
          <a:prstGeom prst="rect">
            <a:avLst/>
          </a:prstGeom>
          <a:solidFill>
            <a:srgbClr val="3A332C"/>
          </a:solidFill>
          <a:ln/>
        </p:spPr>
      </p:sp>
      <p:sp>
        <p:nvSpPr>
          <p:cNvPr id="37" name="Text 35"/>
          <p:cNvSpPr/>
          <p:nvPr/>
        </p:nvSpPr>
        <p:spPr>
          <a:xfrm>
            <a:off x="8327136" y="4197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912352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&amp; thanh toán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345424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5/ngày; gói basic/pro/premium; Stripe checkout/webhook; điểm danh streak.</a:t>
            </a:r>
            <a:endParaRPr lang="en-US" sz="1230" dirty="0"/>
          </a:p>
        </p:txBody>
      </p:sp>
      <p:sp>
        <p:nvSpPr>
          <p:cNvPr id="40" name="Text 3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DEMO · LUỒNG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chủ &amp; Upload → Dịch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66928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66928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 (Trang chủ)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+ nền anime động + 'Tiếp tục đọc'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64224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6309360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309360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09360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/upload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Kéo-thả trang manga Nhật, chọn cấu hình AI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03504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nhấn khi demo:  </a:t>
            </a:r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đăng nhập → kéo-thả 1 trang → pipeline chạy realtime (YOLOv8 → manga-ocr → LaMa → Gemini).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DEMO · LUỒNG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overlay &amp; Studio QC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66928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66928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/reader?page=…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dịch phủ bong bóng, bật/tắt so sánh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64224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6309360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309360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09360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/studio (QC)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Hiệu đính per-bubble, tìm–thay thế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03504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nhấn khi demo:  </a:t>
            </a:r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Reader xem overlay tiếng Việt; bật/tắt bản gốc; mở từ điển bong bóng; hiệu đính trong Studio.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DEMO · LUỒNG B + Q&amp;A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cả chương · RAG Q&amp;A · Thư viện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66928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66928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/upload (batch) · /qa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nhiều trang + tiến trình x/N realtime; hỏi–đáp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64224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6309360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309360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09360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/library · /admin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 viện công khai; bảng điều khiển quản trị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03504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nhấn khi demo:  </a:t>
            </a:r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cả chương xử lý tuần tự; hỏi AI về nội dung; xuất bản lên thư viện; xem admin dashboard.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QUY TRÌNH PHÁT TRIỂN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RUP rút gọn + Scrum theo sprint 2 tuần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2592324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2592324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956816"/>
            <a:ext cx="22265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49808" y="2194560"/>
            <a:ext cx="2226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Inception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2578608"/>
            <a:ext cx="22265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Vision, kế hoạch, weekly report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77540" y="2496312"/>
            <a:ext cx="182880" cy="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42716" y="1874520"/>
            <a:ext cx="2592324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3378708" y="1810512"/>
            <a:ext cx="2592324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1588" y="1956816"/>
            <a:ext cx="22265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61588" y="2194560"/>
            <a:ext cx="2226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Elaboration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61588" y="2578608"/>
            <a:ext cx="22265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case, kiến trúc, UI prototype, test plan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89320" y="2496312"/>
            <a:ext cx="182880" cy="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254496" y="1874520"/>
            <a:ext cx="2592324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0488" y="1810512"/>
            <a:ext cx="2592324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73368" y="1956816"/>
            <a:ext cx="22265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373368" y="2194560"/>
            <a:ext cx="2226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373368" y="2578608"/>
            <a:ext cx="22265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code, test case, defect, báo cáo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801100" y="2496312"/>
            <a:ext cx="182880" cy="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066276" y="1874520"/>
            <a:ext cx="2592324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3" name="Shape 21"/>
          <p:cNvSpPr/>
          <p:nvPr/>
        </p:nvSpPr>
        <p:spPr>
          <a:xfrm>
            <a:off x="9002268" y="1810512"/>
            <a:ext cx="2592324" cy="137160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85148" y="1956816"/>
            <a:ext cx="22265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185148" y="2194560"/>
            <a:ext cx="2226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85148" y="2578608"/>
            <a:ext cx="22265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Triển khai, demo, nộp bài cuối kỳ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" y="3465576"/>
            <a:ext cx="5212080" cy="27432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8" name="Shape 26"/>
          <p:cNvSpPr/>
          <p:nvPr/>
        </p:nvSpPr>
        <p:spPr>
          <a:xfrm>
            <a:off x="566928" y="3401568"/>
            <a:ext cx="5212080" cy="2743200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SCRUM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9536" y="397764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làm gì từ tuần trước?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Đang gặp vướng mắc gì?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Tuần tới sẽ hoàn thành gì?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59536" y="54864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= 2 tuần · PR review trước khi merge · CI xanh mới nộp.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053328" y="3465576"/>
            <a:ext cx="5605272" cy="2743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989320" y="3401568"/>
            <a:ext cx="5605272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17920" y="3611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VAI TRÒ THEO RUP (mẫu)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4014216"/>
            <a:ext cx="109728" cy="2743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6" name="Text 34"/>
          <p:cNvSpPr/>
          <p:nvPr/>
        </p:nvSpPr>
        <p:spPr>
          <a:xfrm>
            <a:off x="6419088" y="39776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Lead / PM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686800" y="3977640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 hoạch, phân công, weekly report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17920" y="4434840"/>
            <a:ext cx="109728" cy="2743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9" name="Text 37"/>
          <p:cNvSpPr/>
          <p:nvPr/>
        </p:nvSpPr>
        <p:spPr>
          <a:xfrm>
            <a:off x="6419088" y="439826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Analyst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686800" y="4398264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thập &amp; rà soát yêu cầu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17920" y="4855464"/>
            <a:ext cx="109728" cy="2743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2" name="Text 40"/>
          <p:cNvSpPr/>
          <p:nvPr/>
        </p:nvSpPr>
        <p:spPr>
          <a:xfrm>
            <a:off x="6419088" y="481888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8686800" y="4818888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trúc, UI, tài liệu SAD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17920" y="5276088"/>
            <a:ext cx="109728" cy="27432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45" name="Text 43"/>
          <p:cNvSpPr/>
          <p:nvPr/>
        </p:nvSpPr>
        <p:spPr>
          <a:xfrm>
            <a:off x="6419088" y="523951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Implementer ×3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8686800" y="5239512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code, unit test, review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17920" y="5696712"/>
            <a:ext cx="109728" cy="2743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8" name="Text 46"/>
          <p:cNvSpPr/>
          <p:nvPr/>
        </p:nvSpPr>
        <p:spPr>
          <a:xfrm>
            <a:off x="6419088" y="566013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Tester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8686800" y="5660136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plan, test case, system test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28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TỔ CHỨC NHÓM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Cơ cấu nhóm &amp; phân công công việc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627632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6 thành viên · mô hình phẳng (flat team) — </a:t>
            </a:r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cấp bậc cứng nhắc; mọi quyết định kỹ thuật quan trọng được thảo luận tập thể.</a:t>
            </a:r>
            <a:endParaRPr 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103120"/>
          <a:ext cx="11027664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965960"/>
                <a:gridCol w="2331720"/>
                <a:gridCol w="5632704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MSSV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 và tên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Trách nhiệm chính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23122041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Đào Sỹ Duy Minh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03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Manager &amp; AI/ML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Quản lý tiến độ, điều phối nhóm · Fine-tune OCR cho manga tiếng Nhật · Prompt engineering cho dịch LLM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23122002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Nguyễn Đình Hà Dương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03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AI/ML Engineer (OCR)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Chuẩn bị &amp; xử lý dataset manga · Hỗ trợ fine-tune OCR · Đánh giá accuracy, phân tích lỗi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23122039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Huỳnh Trung Kiệt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 Developer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FastAPI backend · Thiết kế cơ sở dữ liệu · Tích hợp pipeline OCR/dịch vào server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23122030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Phú Hòa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AI/ML Engineer (RAG)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Tích hợp LLM (Gemini) · Vector database (pgvector) · Pipeline hỏi–đáp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23122044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Trần Chí Nguyên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85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 Developer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Giao diện Next.js/React (UI-UX) · Upload &amp; Reader · Màn hình hỏi–đáp Q&amp;A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23122048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Nguyễn Lâm Phú Quý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0A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 &amp; Business Analyst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Tài liệu (SDP, Vision, Use case) · Test case &amp; test plan · UAT, kiểm thử end-to-end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28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KIỂM THỬ &amp; CI/CD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Chất lượng được kiểm thử &amp; tự động hoá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5943600" cy="41605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5943600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93852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kiểm thử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377440"/>
            <a:ext cx="420624" cy="420624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2377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08176" y="232257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Katalon Studio</a:t>
            </a:r>
            <a:pPr indent="0" marL="0">
              <a:buNone/>
            </a:pPr>
            <a:r>
              <a:rPr lang="en-US" sz="10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PA5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408176" y="263347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thử UI tự động: UC01 Upload–Dịch &amp; UC02 Đọc overlay · ≥2 scenario/UC · Pass/Fail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41248" y="3072384"/>
            <a:ext cx="420624" cy="420624"/>
          </a:xfrm>
          <a:prstGeom prst="rect">
            <a:avLst/>
          </a:prstGeom>
          <a:solidFill>
            <a:srgbClr val="E0A32E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30723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08176" y="30175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/ Component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408176" y="332841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+ React Testing Library (frontend)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41248" y="3767328"/>
            <a:ext cx="420624" cy="42062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3767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08176" y="371246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408176" y="402336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respx (mock Supabase/Gemini)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41248" y="4462272"/>
            <a:ext cx="420624" cy="420624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" y="4462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08176" y="440740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408176" y="471830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Playwright: auth, home, protected, mobile, forum, edge-cases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41248" y="5157216"/>
            <a:ext cx="420624" cy="420624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5157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408176" y="51023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Tĩnh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408176" y="541324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tsc --noEmit · ESLint · Python type hints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76288" y="1874520"/>
            <a:ext cx="4782312" cy="416052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8" name="Shape 26"/>
          <p:cNvSpPr/>
          <p:nvPr/>
        </p:nvSpPr>
        <p:spPr>
          <a:xfrm>
            <a:off x="6812280" y="1810512"/>
            <a:ext cx="4782312" cy="4160520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· 5 JOB SONG SONG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040880" y="2423160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78040" y="242316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589520" y="242316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Typecheck (tsc)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222992" y="2423160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040880" y="3081528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78040" y="308152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589520" y="3081528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(ESLint)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222992" y="3081528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040880" y="3739896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78040" y="373989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589520" y="3739896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build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0222992" y="3739896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040880" y="4398264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78040" y="439826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589520" y="439826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E2E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222992" y="4398264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040880" y="5056632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78040" y="5056632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7589520" y="50566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pytest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10222992" y="5056632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7040880" y="5623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Mọi PR phải review + CI xanh trước khi merge vào main.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28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BẢO MẬT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Phòng thủ nhiều lớp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048256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08176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Xác thực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HttpOnly (không lộ token cho JS); auto-refresh; Google OAuth.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4392168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4328160" y="1810512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65904" y="2048256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3" name="Text 11"/>
          <p:cNvSpPr/>
          <p:nvPr/>
        </p:nvSpPr>
        <p:spPr>
          <a:xfrm>
            <a:off x="4565904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69408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quyền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84192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user/admin ở API + RLS trên mọi bảng dữ liệu người dùng.</a:t>
            </a:r>
            <a:endParaRPr lang="en-US" sz="1230" dirty="0"/>
          </a:p>
        </p:txBody>
      </p:sp>
      <p:sp>
        <p:nvSpPr>
          <p:cNvPr id="16" name="Shape 14"/>
          <p:cNvSpPr/>
          <p:nvPr/>
        </p:nvSpPr>
        <p:spPr>
          <a:xfrm>
            <a:off x="8153400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8089392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7136" y="2048256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Text 17"/>
          <p:cNvSpPr/>
          <p:nvPr/>
        </p:nvSpPr>
        <p:spPr>
          <a:xfrm>
            <a:off x="8327136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930640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Chống lạm dụng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45424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 (SlowAPI) theo endpoint; captcha Turnstile ở đăng ký / quên MK.</a:t>
            </a:r>
            <a:endParaRPr lang="en-US" sz="1230" dirty="0"/>
          </a:p>
        </p:txBody>
      </p:sp>
      <p:sp>
        <p:nvSpPr>
          <p:cNvPr id="22" name="Shape 20"/>
          <p:cNvSpPr/>
          <p:nvPr/>
        </p:nvSpPr>
        <p:spPr>
          <a:xfrm>
            <a:off x="630936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3" name="Shape 21"/>
          <p:cNvSpPr/>
          <p:nvPr/>
        </p:nvSpPr>
        <p:spPr>
          <a:xfrm>
            <a:off x="566928" y="3941064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4178808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5" name="Text 23"/>
          <p:cNvSpPr/>
          <p:nvPr/>
        </p:nvSpPr>
        <p:spPr>
          <a:xfrm>
            <a:off x="804672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408176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CSP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22960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headers + CSP chặt trên mọi response, kể cả /docs.</a:t>
            </a:r>
            <a:endParaRPr lang="en-US" sz="1230" dirty="0"/>
          </a:p>
        </p:txBody>
      </p:sp>
      <p:sp>
        <p:nvSpPr>
          <p:cNvPr id="28" name="Shape 26"/>
          <p:cNvSpPr/>
          <p:nvPr/>
        </p:nvSpPr>
        <p:spPr>
          <a:xfrm>
            <a:off x="4392168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8160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65904" y="4178808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1" name="Text 29"/>
          <p:cNvSpPr/>
          <p:nvPr/>
        </p:nvSpPr>
        <p:spPr>
          <a:xfrm>
            <a:off x="4565904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169408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tra upload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584192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Pillow verify() chống giả mạo MIME; chỉ nhận JPEG/PNG/WebP thật.</a:t>
            </a:r>
            <a:endParaRPr lang="en-US" sz="1230" dirty="0"/>
          </a:p>
        </p:txBody>
      </p:sp>
      <p:sp>
        <p:nvSpPr>
          <p:cNvPr id="34" name="Shape 32"/>
          <p:cNvSpPr/>
          <p:nvPr/>
        </p:nvSpPr>
        <p:spPr>
          <a:xfrm>
            <a:off x="8153400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5" name="Shape 33"/>
          <p:cNvSpPr/>
          <p:nvPr/>
        </p:nvSpPr>
        <p:spPr>
          <a:xfrm>
            <a:off x="8089392" y="3941064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27136" y="4178808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7" name="Text 35"/>
          <p:cNvSpPr/>
          <p:nvPr/>
        </p:nvSpPr>
        <p:spPr>
          <a:xfrm>
            <a:off x="8327136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930640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Chống SSRF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345424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scraper chỉ nhận domain trong allowlist khi nhập từ nguồn ngoài.</a:t>
            </a:r>
            <a:endParaRPr lang="en-US" sz="1230" dirty="0"/>
          </a:p>
        </p:txBody>
      </p:sp>
      <p:sp>
        <p:nvSpPr>
          <p:cNvPr id="40" name="Text 3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28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TRIỂN KHAI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nền tảng, tự động deploy từ main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2551176" cy="2743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2551176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810512"/>
            <a:ext cx="2551176" cy="603504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10512"/>
            <a:ext cx="2221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256032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49808" y="304495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CDN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3502152"/>
            <a:ext cx="2185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Auto-deploy khi push main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56432" y="1874520"/>
            <a:ext cx="2551176" cy="2743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Shape 10"/>
          <p:cNvSpPr/>
          <p:nvPr/>
        </p:nvSpPr>
        <p:spPr>
          <a:xfrm>
            <a:off x="3392424" y="1810512"/>
            <a:ext cx="2551176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92424" y="1810512"/>
            <a:ext cx="2551176" cy="60350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4" name="Text 12"/>
          <p:cNvSpPr/>
          <p:nvPr/>
        </p:nvSpPr>
        <p:spPr>
          <a:xfrm>
            <a:off x="3557016" y="1810512"/>
            <a:ext cx="2221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API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75304" y="256032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575304" y="304495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· Docker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575304" y="3502152"/>
            <a:ext cx="2185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render.yaml · free tier 512MB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81928" y="1874520"/>
            <a:ext cx="2551176" cy="2743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0" y="1810512"/>
            <a:ext cx="2551176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1810512"/>
            <a:ext cx="2551176" cy="603504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1" name="Text 19"/>
          <p:cNvSpPr/>
          <p:nvPr/>
        </p:nvSpPr>
        <p:spPr>
          <a:xfrm>
            <a:off x="6382512" y="1810512"/>
            <a:ext cx="2221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Module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0" y="256032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HuggingFace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00800" y="304495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Spaces · ~4GB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0" y="3502152"/>
            <a:ext cx="2185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Docker thủ công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107424" y="1874520"/>
            <a:ext cx="2551176" cy="2743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6" name="Shape 24"/>
          <p:cNvSpPr/>
          <p:nvPr/>
        </p:nvSpPr>
        <p:spPr>
          <a:xfrm>
            <a:off x="9043416" y="1810512"/>
            <a:ext cx="2551176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43416" y="1810512"/>
            <a:ext cx="2551176" cy="603504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28" name="Text 26"/>
          <p:cNvSpPr/>
          <p:nvPr/>
        </p:nvSpPr>
        <p:spPr>
          <a:xfrm>
            <a:off x="9208008" y="1810512"/>
            <a:ext cx="2221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+ Storage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226296" y="256032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226296" y="304495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8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us-east-1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226296" y="3502152"/>
            <a:ext cx="2185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pgvector + Auth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0936" y="4956048"/>
            <a:ext cx="11027664" cy="1051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" y="4892040"/>
            <a:ext cx="11027664" cy="10515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6968" y="4892040"/>
            <a:ext cx="103875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Vận hành:  </a:t>
            </a:r>
            <a:pPr indent="0" marL="0">
              <a:buNone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keep-alive ping chống ngủ (Render/HF) · health check /health &amp; /health/deep · Sentry + OpenTelemetry giám sát · Supabase PITR backup 7 ngày.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28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· NHÌN THẲNG VÀO HẠN CHẾ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chế &amp; lỗi đã biết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5943600" cy="987552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5943600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920240"/>
            <a:ext cx="5504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start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5504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free &amp; HF Spaces ngủ sau khi rảnh → lần đầu chậm 15–60s (đã có keep-alive).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" y="2971800"/>
            <a:ext cx="5943600" cy="987552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907792"/>
            <a:ext cx="5943600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3017520"/>
            <a:ext cx="5504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Quota Gemini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3328416"/>
            <a:ext cx="5504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giới hạn RPD → xoay vòng key + throttle + cache; cao điểm vẫn có thể bị giới hạn.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0936" y="4069080"/>
            <a:ext cx="5943600" cy="987552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" y="4005072"/>
            <a:ext cx="5943600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4114800"/>
            <a:ext cx="5504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chữ hiệu ứng (SFX)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86384" y="4425696"/>
            <a:ext cx="5504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Chữ viết tay / hiệu ứng độ chính xác giảm; bong bóng SFX có thể bị bỏ qua.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" y="5166360"/>
            <a:ext cx="5943600" cy="987552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5102352"/>
            <a:ext cx="5943600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5212080"/>
            <a:ext cx="5504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 cục chữ Việt dài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86384" y="5522976"/>
            <a:ext cx="5504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Bong bóng nhỏ phải thu nhỏ cỡ chữ hoặc cắt bớt (có tooltip đầy đủ).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76288" y="1874520"/>
            <a:ext cx="4782312" cy="440740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1" name="Shape 19"/>
          <p:cNvSpPr/>
          <p:nvPr/>
        </p:nvSpPr>
        <p:spPr>
          <a:xfrm>
            <a:off x="6812280" y="1810512"/>
            <a:ext cx="4782312" cy="4407408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088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LỖI ĐÃ BIẾT (đang xử lý)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040880" y="2423160"/>
            <a:ext cx="432511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phiên hết hạn giữa chừng → đôi khi cần tải lại trang (đang hoàn thiện auto-refresh).</a:t>
            </a:r>
            <a:endParaRPr lang="en-US" sz="128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mất gói khi mạng chập chờn → fallback polling, tiến trình có thể 'nhảy' %.</a:t>
            </a:r>
            <a:endParaRPr lang="en-US" sz="128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URL ảnh có thể hết hạn với phiên đọc rất dài → đã thêm retry tải ảnh.</a:t>
            </a:r>
            <a:endParaRPr lang="en-US" sz="128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 bị mobile cũ: nền anime động có thể tụt FPS (tắt được trong cài đặt).</a:t>
            </a:r>
            <a:endParaRPr lang="en-US" sz="1280" dirty="0"/>
          </a:p>
        </p:txBody>
      </p:sp>
      <p:sp>
        <p:nvSpPr>
          <p:cNvPr id="24" name="Text 22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28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· HƯỚNG PHÁT TRIỂN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tiếp theo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353312" y="2048256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&amp; dịch tốt hơn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22960" y="2706624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thêm cho SFX/chữ viết tay; hỗ trợ thêm cặp ngôn ngữ (Hàn, Anh).</a:t>
            </a:r>
            <a:endParaRPr lang="en-US" sz="1230" dirty="0"/>
          </a:p>
        </p:txBody>
      </p:sp>
      <p:sp>
        <p:nvSpPr>
          <p:cNvPr id="9" name="Shape 7"/>
          <p:cNvSpPr/>
          <p:nvPr/>
        </p:nvSpPr>
        <p:spPr>
          <a:xfrm>
            <a:off x="4392168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0" name="Shape 8"/>
          <p:cNvSpPr/>
          <p:nvPr/>
        </p:nvSpPr>
        <p:spPr>
          <a:xfrm>
            <a:off x="4328160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7616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114544" y="2048256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Sắp xếp bong bóng RTL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84192" y="2706624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Cải thiện thứ tự đọc phải-sang-trái cho bố cục phức tạp.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8153400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5" name="Shape 13"/>
          <p:cNvSpPr/>
          <p:nvPr/>
        </p:nvSpPr>
        <p:spPr>
          <a:xfrm>
            <a:off x="8089392" y="1810512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08848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875776" y="2048256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Nâng độ sẵn sàng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345424" y="2706624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Chuyển tier trả phí giảm cold start; hàng đợi tác vụ chuyên dụng.</a:t>
            </a:r>
            <a:endParaRPr lang="en-US" sz="1230" dirty="0"/>
          </a:p>
        </p:txBody>
      </p:sp>
      <p:sp>
        <p:nvSpPr>
          <p:cNvPr id="19" name="Shape 17"/>
          <p:cNvSpPr/>
          <p:nvPr/>
        </p:nvSpPr>
        <p:spPr>
          <a:xfrm>
            <a:off x="630936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41422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353312" y="4178808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 nhân hoá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22960" y="4837176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Gợi ý truyện theo lịch sử đọc; cải thiện RAG đa-trang / cả series.</a:t>
            </a:r>
            <a:endParaRPr lang="en-US" sz="1230" dirty="0"/>
          </a:p>
        </p:txBody>
      </p:sp>
      <p:sp>
        <p:nvSpPr>
          <p:cNvPr id="24" name="Shape 22"/>
          <p:cNvSpPr/>
          <p:nvPr/>
        </p:nvSpPr>
        <p:spPr>
          <a:xfrm>
            <a:off x="4392168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5" name="Shape 23"/>
          <p:cNvSpPr/>
          <p:nvPr/>
        </p:nvSpPr>
        <p:spPr>
          <a:xfrm>
            <a:off x="4328160" y="3941064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47616" y="41422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5114544" y="4178808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duyệt &amp; bản quyền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4584192" y="4837176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cụ chống vi phạm bản quyền, quy trình DMCA rõ ràng.</a:t>
            </a:r>
            <a:endParaRPr lang="en-US" sz="1230" dirty="0"/>
          </a:p>
        </p:txBody>
      </p:sp>
      <p:sp>
        <p:nvSpPr>
          <p:cNvPr id="29" name="Shape 27"/>
          <p:cNvSpPr/>
          <p:nvPr/>
        </p:nvSpPr>
        <p:spPr>
          <a:xfrm>
            <a:off x="8153400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0" name="Shape 28"/>
          <p:cNvSpPr/>
          <p:nvPr/>
        </p:nvSpPr>
        <p:spPr>
          <a:xfrm>
            <a:off x="8089392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08848" y="41422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8875776" y="4178808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Ứng dụng di động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8345424" y="4837176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Đóng gói PWA thành app; đọc offline mượt hơn.</a:t>
            </a:r>
            <a:endParaRPr lang="en-US" sz="1230" dirty="0"/>
          </a:p>
        </p:txBody>
      </p:sp>
      <p:sp>
        <p:nvSpPr>
          <p:cNvPr id="34" name="Text 32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28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9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· KẾT LUẬN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868680"/>
            <a:ext cx="10844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sản phẩm AI hoàn chỉnh, chạy thật.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3816" y="2075688"/>
            <a:ext cx="2505456" cy="14173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" y="2011680"/>
            <a:ext cx="2505456" cy="141732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17627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86968" y="2852928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vụ triển khai độc lập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93592" y="2075688"/>
            <a:ext cx="2505456" cy="14173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0" name="Shape 8"/>
          <p:cNvSpPr/>
          <p:nvPr/>
        </p:nvSpPr>
        <p:spPr>
          <a:xfrm>
            <a:off x="3529584" y="2011680"/>
            <a:ext cx="2505456" cy="141732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66744" y="217627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95.3%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666744" y="2852928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mAP@0.5 phát hiện bong bóng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73368" y="2075688"/>
            <a:ext cx="2505456" cy="14173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0" y="2011680"/>
            <a:ext cx="2505456" cy="141732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217627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6.1%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446520" y="2852928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 OCR tiếng Nhật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53144" y="2075688"/>
            <a:ext cx="2505456" cy="14173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8" name="Shape 16"/>
          <p:cNvSpPr/>
          <p:nvPr/>
        </p:nvSpPr>
        <p:spPr>
          <a:xfrm>
            <a:off x="9089136" y="2011680"/>
            <a:ext cx="2505456" cy="141732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26296" y="217627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9+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9226296" y="2852928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yêu cầu chức năng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3816" y="3813048"/>
            <a:ext cx="10844784" cy="22860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2" name="Shape 20"/>
          <p:cNvSpPr/>
          <p:nvPr/>
        </p:nvSpPr>
        <p:spPr>
          <a:xfrm>
            <a:off x="749808" y="3749040"/>
            <a:ext cx="10844784" cy="228600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24128" y="39502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ĐẠT ĐƯỢC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24128" y="4315968"/>
            <a:ext cx="10204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AI end-to-end: phát hiện → OCR → xoá nền → dịch ngữ cảnh → RAG Q&amp;A.</a:t>
            </a:r>
            <a:endParaRPr lang="en-US" sz="1400" dirty="0"/>
          </a:p>
          <a:p>
            <a:pPr marL="203200" indent="-2032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Kỹ thuật production: microservice, WebSocket, bảo mật nhiều lớp, CI 5 job, giám sát.</a:t>
            </a:r>
            <a:endParaRPr lang="en-US" sz="1400" dirty="0"/>
          </a:p>
          <a:p>
            <a:pPr marL="203200" indent="-2032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Áp dụng quy trình CNPM: RUP rút gọn + Scrum, tài liệu SAD/SRS/SDP đồng bộ code thật.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9A91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1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28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9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5120640"/>
            <a:ext cx="822960" cy="822960"/>
          </a:xfrm>
          <a:prstGeom prst="rect">
            <a:avLst/>
          </a:prstGeom>
          <a:solidFill>
            <a:srgbClr val="E0A32E"/>
          </a:solidFill>
          <a:ln/>
        </p:spPr>
      </p:sp>
      <p:sp>
        <p:nvSpPr>
          <p:cNvPr id="3" name="Shape 1"/>
          <p:cNvSpPr/>
          <p:nvPr/>
        </p:nvSpPr>
        <p:spPr>
          <a:xfrm>
            <a:off x="10744200" y="5440680"/>
            <a:ext cx="822960" cy="82296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4" name="Shape 2"/>
          <p:cNvSpPr/>
          <p:nvPr/>
        </p:nvSpPr>
        <p:spPr>
          <a:xfrm>
            <a:off x="10396728" y="630936"/>
            <a:ext cx="1371600" cy="13716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5" name="Shape 3"/>
          <p:cNvSpPr/>
          <p:nvPr/>
        </p:nvSpPr>
        <p:spPr>
          <a:xfrm>
            <a:off x="10314432" y="548640"/>
            <a:ext cx="1371600" cy="1371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6" name="Image 0" descr="assets/hcmu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0736" y="790974"/>
            <a:ext cx="1078992" cy="88693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14630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CẢM ƠN THẦY &amp; CÁC BẠN ĐÃ LẮNG NGHE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32688" y="18288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&amp; Thảo luận</a:t>
            </a:r>
            <a:endParaRPr lang="en-US" sz="5400" dirty="0"/>
          </a:p>
        </p:txBody>
      </p:sp>
      <p:sp>
        <p:nvSpPr>
          <p:cNvPr id="9" name="Shape 6"/>
          <p:cNvSpPr/>
          <p:nvPr/>
        </p:nvSpPr>
        <p:spPr>
          <a:xfrm>
            <a:off x="1024128" y="3063240"/>
            <a:ext cx="5486400" cy="1828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32461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StoryLens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1005840" y="3931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2004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storylens-api.onrender.com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4805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MODULE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2004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huynhtrungkiet09032005-ai-storylen.hf.space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005840" y="5029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TÀI KHOẢN DEMO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20040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demo.pa3@storylens.app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05840" y="5577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200400" y="5577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 — CSC10011 · GVHD: GS.TS Nguyễn Văn Vũ, ThS. Trương Phước Lộc, ThS. Ngô Ngọc Đăng Khoa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HCMUS · CSC10011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StoryLens — Báo cáo cuối kỳ</dc:title>
  <dc:subject>PptxGenJS Presentation</dc:subject>
  <dc:creator>Nhóm 1 – StoryLens</dc:creator>
  <cp:lastModifiedBy>Nhóm 1 – StoryLens</cp:lastModifiedBy>
  <cp:revision>1</cp:revision>
  <dcterms:created xsi:type="dcterms:W3CDTF">2026-07-09T09:32:45Z</dcterms:created>
  <dcterms:modified xsi:type="dcterms:W3CDTF">2026-07-09T09:32:45Z</dcterms:modified>
</cp:coreProperties>
</file>