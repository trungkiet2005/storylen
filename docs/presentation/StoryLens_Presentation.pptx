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YOLOv8</c:v>
                </c:pt>
              </c:strCache>
            </c:strRef>
          </c:tx>
          <c:spPr>
            <a:solidFill>
              <a:srgbClr val="D031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915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mAP@.5</c:v>
                  </c:pt>
                  <c:pt idx="1">
                    <c:v>mAP@.5:.95</c:v>
                  </c:pt>
                  <c:pt idx="2">
                    <c:v>Precision</c:v>
                  </c:pt>
                  <c:pt idx="3">
                    <c:v>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95.3</c:v>
                </c:pt>
                <c:pt idx="1">
                  <c:v>84.4</c:v>
                </c:pt>
                <c:pt idx="2">
                  <c:v>97.3</c:v>
                </c:pt>
                <c:pt idx="3">
                  <c:v>93.8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1915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915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 đầu. Giới thiệu tên sản phẩm StoryLens, một câu định vị, môn học/GVHD/nhóm 1 (6 thành viên).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7 phần theo đúng thứ tự PA5 trong ~15 phút (gồm demo), sau đó 10 phút Q&amp;A. Phần IV và V là trọng tâm kỹ thuật; phần demo nằm trong VI. Mỗi thành viên trình bày ít nhất một phần (≥ 3 phút/người).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điểm đau chính: fan-sub chậm, dịch mất ngữ cảnh, không hỏi được nội dung. Dẫn sang giải pháp.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Tuyên ngôn định vị theo mẫu Vision. Bốn trụ giá trị: dịch ngữ cảnh, đọc overlay, RAG Q&amp;A, cộng đồng.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so sánh nhanh. Hàng StoryLens tô đỏ để nổi bật. Nhấn: chỉ StoryLens có cả overlay lẫn RAG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persona từ tài liệu Vision. Nhấn mạnh nhu cầu chung: dịch chính xác + hỏi được nội 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trình theo RUP rút gọn + Scrum (LN03b). Bảng bên phải là mẫu vai trò theo RUP; phân công thực tế cho 6 thành viên ở slide kế tiếp.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Cơ cấu nhóm phẳng, 6 thành viên. PA5 yêu cầu nêu rõ team structure + trách nhiệm từng người: mỗi bạn phụ trách một mảng (PM/AI-OCR, AI-OCR, Backend, AI-RAG, Frontend, QA/BA) và ai cũng trình bày một phần khi bảo vệ.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sẽ tập trung UC01+UC02 (luồng A) và UC03 (luồng B) — đủ yêu cầu ≥2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Sơ đồ use case: Người đọc dùng UC01–UC05; Quản trị viên dùng UC06; AI Module + Gemini là tác nhân phụ hỗ trợ dịch (UC01) và Q&amp;A (UC04). Demo bao phủ UC01+UC02 (luồng A) và UC03 (luồng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nhóm yêu cầu chức năng theo SRS. F03 (pipeline AI) và F05 (RAG) là lõi AI của hệ thống.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NFR chia 2 nhóm: bảo mật và vận hành/toàn vẹn. Bốn con số hiệu năng ở trên là mục tiêu đã đặt trong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microservice + phân tầng. Backend nhẹ (Render free) tách khỏi AI Module nặng (HF Spaces). Supabase là state dùng 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6 bước chạy trong luồng nền có semaphore. Có fallback M2M100/NLLB nếu Gemini lỗi. Render dùng binary-search cỡ chữ để vừa bbox.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RAG: embedding → tìm pgvector → Gemini sinh câu trả lời kèm nguồn. Mỗi câu trả lời thành công trừ 1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đầy đủ 3 dịch vụ + dữ liệu. Nhấn: mọi thứ chạy trên tier miễn phí/rẻ nhưng vẫn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Bảo mật nhiều lớp: xác thực cookie, RBAC+RLS, rate-limit+captcha, CSP, kiểm tra upload, chống SSRF.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nền tảng độc lập, auto-deploy từ main. Có keep-alive, health check, giám sát và backup PITR.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ML thật đưa vào SAD mục 7.5. YOLOv8 mAP@0.5 95.3% và OCR CER 6.1% đều vượt ngưỡng. Gemini đánh giá bằng human-in-the-loop.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Kiểm thử đa tầng + CI 5 job song song. Katalon Studio là công cụ kiểm thử tự động bắt buộc của PA5: tối thiểu 2 use case (UC01, UC02), mỗi use case ≥ 2 scenario, báo cáo Pass/Fail kèm test script. Định nghĩa 'done' gồm review, test pass, deploy &amp; verify trên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Hệ sinh thái quanh lõi dịch: reader, QC, thư viện, cộng đồng, gamification, thanh toán. Cho thấy quy mô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trang chủ và trang upload. Khi demo: đăng nhập tài khoản demo, kéo-thả 1 trang, chờ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Reader có overlay dịch và màn Studio QC. Cần AI Module sống để có bản dịch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batch upload + tiến trình, Q&amp;A, thư viện công khai và admin. Đây là luồng B (UC03) + RAG (UC04).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Trung thực về hạn chế: cold start, quota, OCR SFX, bố cục chữ dài — và các lỗi đang xử lý. Cho thấy sự chín chắn kỹ thuật.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OCR/dịch tốt hơn, RTL, giảm cold start, cá nhân hoá, bản quyền,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lại: sản phẩm AI hoàn chỉnh chạy thật, kỹ thuật production, áp dụng đúng quy trình CNPM. Nhấn 4 con số.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cảm ơn + Q&amp;A. Sẵn sàng demo trực tiếp nếu Thầy yêu cầu. Nhớ đánh thức AI Module trước khi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566928"/>
            <a:ext cx="384048" cy="384048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4" name="Shape 2"/>
          <p:cNvSpPr/>
          <p:nvPr/>
        </p:nvSpPr>
        <p:spPr>
          <a:xfrm>
            <a:off x="10396728" y="649224"/>
            <a:ext cx="1371600" cy="13716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5" name="Shape 3"/>
          <p:cNvSpPr/>
          <p:nvPr/>
        </p:nvSpPr>
        <p:spPr>
          <a:xfrm>
            <a:off x="10314432" y="566928"/>
            <a:ext cx="137160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assets/hcm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36" y="809262"/>
            <a:ext cx="1078992" cy="8869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60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 CUỐI KỲ · PA5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32688" y="1325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</a:t>
            </a:r>
            <a:endParaRPr lang="en-US" sz="8200" dirty="0"/>
          </a:p>
        </p:txBody>
      </p:sp>
      <p:sp>
        <p:nvSpPr>
          <p:cNvPr id="9" name="Shape 6"/>
          <p:cNvSpPr/>
          <p:nvPr/>
        </p:nvSpPr>
        <p:spPr>
          <a:xfrm>
            <a:off x="1024128" y="2798064"/>
            <a:ext cx="7680960" cy="1828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926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AI dịch &amp; hỏi–đáp Manga theo ngữ cảnh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05840" y="34564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phát hiện · đọc · xoá nền · dịch bong bóng thoại (Nhật/Trung → Việt) → đọc overlay + RAG Q&amp;A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058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 HỌC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05840" y="48554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CSC10011 — CNPM cho hệ thống AI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5204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520440" y="48554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GS.TS Nguyễn Văn Vũ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Trương Phước Lộc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Ngô Ngọc Đăng Khoa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350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35040" y="48554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— StoryLens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496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BÁO CÁO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49640" y="48554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10/07/2026 · HCMUS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05840" y="58064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viên: Đào Sỹ Duy Minh · Nguyễn Đình Hà Dương · Huỳnh Trung Kiệt · Phạm Phú Hòa · Trần Chí Nguyên · Nguyễn Lâm Phú Quý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05840" y="6144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storylens-api.onrender.com  ·  Next.js 16 · FastAPI · HuggingFace Spaces · Supabase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728216"/>
            <a:ext cx="11027664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1102766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37360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16736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cảnh, định vị &amp; người dùng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87568" y="173736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· tuyên ngôn định vị (Vision) · thị trường/persona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" y="2414016"/>
            <a:ext cx="11027664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350008"/>
            <a:ext cx="11027664" cy="603504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423160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16736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dự án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87568" y="242316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cấu nhóm · trách nhiệm từng thành viên · quy trình RUP + Scrum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" y="3099816"/>
            <a:ext cx="11027664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035808"/>
            <a:ext cx="1102766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108960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16736" y="3108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phần mềm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87568" y="310896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use case (sơ đồ + luồng) · yêu cầu phi chức năng (NFR)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" y="3785616"/>
            <a:ext cx="11027664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721608"/>
            <a:ext cx="11027664" cy="603504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3794760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16736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&amp; Thiết kế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687568" y="379476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dịch vụ · pipeline AI · RAG · công nghệ sử dụng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" y="4471416"/>
            <a:ext cx="11027664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4407408"/>
            <a:ext cx="1102766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" y="4480560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16736" y="4480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687568" y="448056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huấn luyện mô hình ML · kiểm thử tự động (Katalon) &amp; CI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" y="5157216"/>
            <a:ext cx="11027664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5093208"/>
            <a:ext cx="11027664" cy="603504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" y="5166360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16736" y="5166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687568" y="516636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nổi bật · demo trực tiếp các use case chính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" y="5843016"/>
            <a:ext cx="11027664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5779008"/>
            <a:ext cx="1102766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" y="5852160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" y="5852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316736" y="5852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5687568" y="585216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· lỗi đã biết · hướng phát triển · tổng kết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BỐI CẢNH &amp; VẤN ĐỀ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đề: đọc manga gốc vẫn còn nhiều rào cản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11027664" cy="123444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11027664" cy="123444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83080"/>
            <a:ext cx="10387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“Thiếu một nền tảng dịch manga tự động có AI hiểu ngữ cảnh và hỏi–đáp thông minh.”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tới cộng đồng đọc manga Việt Nam (15–28 tuổi) muốn tiếp cận truyện chất lượng cao chưa có bản dịch.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" y="3374136"/>
            <a:ext cx="3493008" cy="23317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310128"/>
            <a:ext cx="349300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84448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22452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Fan-sub chậm &amp; không đều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79145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dịch cộng đồng ra chậm, chất lượng phụ thuộc nhóm dịch, dễ bỏ dở giữa chừng.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98264" y="3374136"/>
            <a:ext cx="3493008" cy="23317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4256" y="3310128"/>
            <a:ext cx="349300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3584448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0288" y="422452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dịch mất ngữ cảnh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90288" y="479145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 / dịch từng câu không giữ được xưng hô, mạch truyện, sắc thái nhân vật.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65592" y="3374136"/>
            <a:ext cx="3493008" cy="23317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1584" y="3310128"/>
            <a:ext cx="349300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7616" y="3584448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57616" y="422452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thể hỏi về nội dung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57616" y="479145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đọc muốn hỏi “nhân vật này là ai?” nhưng không có kênh tra cứu tức thời.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 — dịch có ngữ cảnh + hỏi–đáp RAG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6126480" cy="429768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6126480" cy="429768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TUYÊN NGÔN ĐỊNH VỊ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2331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đọc manga Việt (15–28 tuổi)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muốn đọc truyện Nhật chưa có bản dịch chính thức,
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 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tải trang truyện lên, 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dịch sang tiếng Việt có ngữ cảnh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AI bất kỳ điều gì về nội dung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4297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 BIỆT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duy nhất kết hợp dịch theo ngữ cảnh + RAG Q&amp;A cho manga tiếng Việt — hiểu toàn bộ câu chuyện, không chỉ từng câu rời rạc.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04888" y="1847088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0" y="1783080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87184" y="2011680"/>
            <a:ext cx="548640" cy="54864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2" name="Text 10"/>
          <p:cNvSpPr/>
          <p:nvPr/>
        </p:nvSpPr>
        <p:spPr>
          <a:xfrm>
            <a:off x="718718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09560" y="19110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giữ ngữ cảnh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09560" y="224028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Xưng hô, mạch truyện &amp; sắc thái được Gemini xử lý theo cả trang.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04888" y="2971800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2907792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87184" y="3136392"/>
            <a:ext cx="548640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8" name="Text 16"/>
          <p:cNvSpPr/>
          <p:nvPr/>
        </p:nvSpPr>
        <p:spPr>
          <a:xfrm>
            <a:off x="7187184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09560" y="303580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overlay liền mạch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09560" y="336499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dịch phủ đúng bong bóng; bật/tắt so sánh bản gốc.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04888" y="4096512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4032504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4261104"/>
            <a:ext cx="548640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4" name="Text 22"/>
          <p:cNvSpPr/>
          <p:nvPr/>
        </p:nvSpPr>
        <p:spPr>
          <a:xfrm>
            <a:off x="7187184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09560" y="41605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Hỏi–đáp RAG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09560" y="448970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về nội dung, AI trả lời kèm nguồn trích.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04888" y="5221224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5157216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87184" y="5385816"/>
            <a:ext cx="548640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0" name="Text 28"/>
          <p:cNvSpPr/>
          <p:nvPr/>
        </p:nvSpPr>
        <p:spPr>
          <a:xfrm>
            <a:off x="7187184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09560" y="528523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 &amp; thư viện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09560" y="5614416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bản chương, chia sẻ link, diễn đàn, bình luận.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ĐỊNH VỊ CẠNH TRANH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các lựa chọn hiện có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27664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2148840"/>
                <a:gridCol w="2148840"/>
                <a:gridCol w="17007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Giải pháp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Dịch ảnh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Hiểu ngữ cảnh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Hỏi–đáp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Đọc overlay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Lens / OCR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DeepL · ChatGPT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Thủ công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phần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realtime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Fan-sub thủ công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Thủ công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dịch sẵn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StoryLens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động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(cả trang)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(RAG)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" y="5861304"/>
            <a:ext cx="11027664" cy="65836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6" name="Shape 3"/>
          <p:cNvSpPr/>
          <p:nvPr/>
        </p:nvSpPr>
        <p:spPr>
          <a:xfrm>
            <a:off x="566928" y="5806440"/>
            <a:ext cx="11027664" cy="658368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5806440"/>
            <a:ext cx="1038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học được →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tốc độ tự động của máy + độ chính xác giữ ngữ cảnh của người, cộng thêm khả năng hỏi–đáp mà chưa đối thủ nào có.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NGƯỜI DÙNG MỤC TIÊU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nhóm người dùng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493008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49300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349300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đại học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08376" y="1993392"/>
            <a:ext cx="82296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9" name="Text 7"/>
          <p:cNvSpPr/>
          <p:nvPr/>
        </p:nvSpPr>
        <p:spPr>
          <a:xfrm>
            <a:off x="3008376" y="1993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09067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manga Nhật, kiểm tra bản dịch, tìm hiểu nội dung sâu.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ĐỢI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553712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chính xác; AI trả lời chi tiết về nhân vật &amp; cốt truyện.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4398264" y="1874520"/>
            <a:ext cx="3493008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4256" y="1810512"/>
            <a:ext cx="349300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810512"/>
            <a:ext cx="349300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sinh THPT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775704" y="1993392"/>
            <a:ext cx="82296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Text 17"/>
          <p:cNvSpPr/>
          <p:nvPr/>
        </p:nvSpPr>
        <p:spPr>
          <a:xfrm>
            <a:off x="6775704" y="1993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15–18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0288" y="2834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0288" y="309067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truyện mới, thảo luận với bạn bè, nắm nhanh nội dung.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4590288" y="42976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ĐỢI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4553712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dễ dùng, dịch nhanh, hỏi được về cốt truyện.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8165592" y="1874520"/>
            <a:ext cx="3493008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Shape 23"/>
          <p:cNvSpPr/>
          <p:nvPr/>
        </p:nvSpPr>
        <p:spPr>
          <a:xfrm>
            <a:off x="8101584" y="1810512"/>
            <a:ext cx="349300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1810512"/>
            <a:ext cx="349300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357616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543032" y="1993392"/>
            <a:ext cx="82296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Text 27"/>
          <p:cNvSpPr/>
          <p:nvPr/>
        </p:nvSpPr>
        <p:spPr>
          <a:xfrm>
            <a:off x="10543032" y="1993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57616" y="2834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57616" y="309067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video review manga, giải thích plot cho khán giả.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8357616" y="42976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ĐỢI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57616" y="4553712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chi tiết, batch cả chương, sẵn sàng trả phí premium.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QUẢN LÝ DỰ 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 rút gọn + Scrum theo sprint 2 tuần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92324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kế hoạch, weekly report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2496312"/>
            <a:ext cx="18288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4271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3378708" y="1810512"/>
            <a:ext cx="2592324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158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158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158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kiến trúc, UI prototype, test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496312"/>
            <a:ext cx="18288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0488" y="1810512"/>
            <a:ext cx="2592324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7336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7336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test case, defect, báo cáo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01100" y="2496312"/>
            <a:ext cx="18288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6627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9002268" y="1810512"/>
            <a:ext cx="2592324" cy="137160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514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8514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514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khai, demo, nộp bài cuối kỳ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" y="3465576"/>
            <a:ext cx="5212080" cy="2743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3401568"/>
            <a:ext cx="5212080" cy="274320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SCRUM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" y="39776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gì từ tuần trước?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gặp vướng mắc gì?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tới sẽ hoàn thành gì?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" y="5486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= 2 tuần · PR review trước khi merge · CI xanh mới nộp.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53328" y="3465576"/>
            <a:ext cx="5605272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989320" y="3401568"/>
            <a:ext cx="5605272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THEO RUP (mẫu)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014216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3977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/ PM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0" y="397764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hoạch, phân công, weekly report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434840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4398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686800" y="4398264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rà soát yêu cầu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4855464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4818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686800" y="4818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UI, tài liệu SAD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5276088"/>
            <a:ext cx="109728" cy="27432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45" name="Text 43"/>
          <p:cNvSpPr/>
          <p:nvPr/>
        </p:nvSpPr>
        <p:spPr>
          <a:xfrm>
            <a:off x="6419088" y="5239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Implementer ×3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0" y="52395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unit test, review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17920" y="5696712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8" name="Text 46"/>
          <p:cNvSpPr/>
          <p:nvPr/>
        </p:nvSpPr>
        <p:spPr>
          <a:xfrm>
            <a:off x="6419088" y="5660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686800" y="566013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test case, system test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QUẢN LÝ DỰ 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cấu nhóm &amp; phân công công việc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6 thành viên · mô hình phẳng (flat team) — </a:t>
            </a:r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cấp bậc cứng nhắc; mọi quyết định kỹ thuật quan trọng được thảo luận tập thể.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2766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65960"/>
                <a:gridCol w="2331720"/>
                <a:gridCol w="5632704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Họ và tên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 trò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Trách nhiệm chính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23122041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Đào Sỹ Duy Minh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03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 &amp; AI/ML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tiến độ, điều phối nhóm · Fine-tune OCR cho manga tiếng Nhật · Prompt engineering cho dịch 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23122002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Nguyễn Đình Hà Dương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031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Engineer (OCR)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 bị &amp; xử lý dataset manga · Hỗ trợ fine-tune OCR · Đánh giá accuracy, phân tích lỗi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23122039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Huỳnh Trung Kiệt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backend · Thiết kế cơ sở dữ liệu · Tích hợp pipeline OCR/dịch vào server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23122030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Phạm Phú Hòa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Engineer (RAG)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Tích hợp LLM (Gemini) · Vector database (pgvector) · Pipeline hỏi–đáp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23122044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Trần Chí Nguyên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5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 diện Next.js/React (UI-UX) · Upload &amp; Reader · Màn hình hỏi–đáp Q&amp;A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23122048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Nguyễn Lâm Phú Quý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A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&amp; Business 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liệu (SDP, Vision, Use case) · Test case &amp; test plan · UAT, kiểm thử end-to-end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LUỒNG NGHIỆP VỤ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use case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1170432" cy="128016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751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2560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38528" y="197510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Dịch trang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938528" y="2377440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1 trang → pipeline AI phát hiện, đọc, xoá nền, dịch, render chữ Việt.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73368" y="1874520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810512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10512"/>
            <a:ext cx="11704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751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80960" y="197510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overlay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80960" y="2377440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bản dịch phủ bong bóng; bật/tắt, copy, từ điển bong bóng, nhiều chế độ đọc.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" y="3282696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218688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218688"/>
            <a:ext cx="1170432" cy="1280160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832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6928" y="39684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38528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cả chương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938528" y="3785616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nhiều trang → xử lý tuần tự, tiến trình realtime qua WebSocket.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73368" y="3282696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3218688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218688"/>
            <a:ext cx="1170432" cy="128016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3832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09360" y="39684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0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Hỏi–đáp RAG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680960" y="3785616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về nội dung; tìm ngữ nghĩa trong pgvector + Gemini trả lời.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" y="4690872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4626864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626864"/>
            <a:ext cx="1170432" cy="128016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7914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UC05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66928" y="53766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38528" y="479145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bản &amp; chia sẻ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938528" y="5193792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chương lên thư viện công khai; chia sẻ link có hạn (TTL).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73368" y="4690872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4626864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626864"/>
            <a:ext cx="1170432" cy="1280160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47914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UC06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309360" y="53766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80960" y="479145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(Admin)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7680960" y="5193792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tích, kiểm duyệt, giám sát sức khoẻ, cấu hình nguồn AI Module.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MÔ HÌNH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use case tổng quát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98648" y="1874520"/>
            <a:ext cx="5943600" cy="42245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810512"/>
            <a:ext cx="5943600" cy="422452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9019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 StoryLens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1572768" y="2697480"/>
            <a:ext cx="1664208" cy="941832"/>
          </a:xfrm>
          <a:prstGeom prst="line">
            <a:avLst/>
          </a:prstGeom>
          <a:noFill/>
          <a:ln w="15875">
            <a:solidFill>
              <a:srgbClr val="B8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2768" y="3639312"/>
            <a:ext cx="1664208" cy="292608"/>
          </a:xfrm>
          <a:prstGeom prst="line">
            <a:avLst/>
          </a:prstGeom>
          <a:noFill/>
          <a:ln w="15875">
            <a:solidFill>
              <a:srgbClr val="B8A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3639312"/>
            <a:ext cx="1664208" cy="1527048"/>
          </a:xfrm>
          <a:prstGeom prst="line">
            <a:avLst/>
          </a:prstGeom>
          <a:noFill/>
          <a:ln w="15875">
            <a:solidFill>
              <a:srgbClr val="B8AF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572768" y="2697480"/>
            <a:ext cx="4224528" cy="941832"/>
          </a:xfrm>
          <a:prstGeom prst="line">
            <a:avLst/>
          </a:prstGeom>
          <a:noFill/>
          <a:ln w="15875">
            <a:solidFill>
              <a:srgbClr val="B8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768" y="3639312"/>
            <a:ext cx="4224528" cy="292608"/>
          </a:xfrm>
          <a:prstGeom prst="line">
            <a:avLst/>
          </a:prstGeom>
          <a:noFill/>
          <a:ln w="15875">
            <a:solidFill>
              <a:srgbClr val="B8AF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375904" y="5029200"/>
            <a:ext cx="1426464" cy="137160"/>
          </a:xfrm>
          <a:prstGeom prst="line">
            <a:avLst/>
          </a:prstGeom>
          <a:noFill/>
          <a:ln w="15875">
            <a:solidFill>
              <a:srgbClr val="B8A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5904" y="2697480"/>
            <a:ext cx="676656" cy="91440"/>
          </a:xfrm>
          <a:prstGeom prst="line">
            <a:avLst/>
          </a:prstGeom>
          <a:noFill/>
          <a:ln w="15875">
            <a:solidFill>
              <a:srgbClr val="9A7B3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8375904" y="3154680"/>
            <a:ext cx="676656" cy="777240"/>
          </a:xfrm>
          <a:prstGeom prst="line">
            <a:avLst/>
          </a:prstGeom>
          <a:noFill/>
          <a:ln w="15875">
            <a:solidFill>
              <a:srgbClr val="9A7B3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36976" y="2322576"/>
            <a:ext cx="25786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15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2322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UC02  </a:t>
            </a:r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overlay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36976" y="3557016"/>
            <a:ext cx="25786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85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35570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8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UC03  </a:t>
            </a:r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cả chương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6976" y="4791456"/>
            <a:ext cx="25786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A3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479145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UC05  </a:t>
            </a:r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bản &amp; chia sẻ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97296" y="2322576"/>
            <a:ext cx="25786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031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88736" y="2322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UC01  </a:t>
            </a:r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Dịch trang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97296" y="3557016"/>
            <a:ext cx="25786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88736" y="35570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UC04  </a:t>
            </a:r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Hỏi–đáp RAG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97296" y="4791456"/>
            <a:ext cx="25786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33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88736" y="479145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3A3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UC06  </a:t>
            </a:r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hệ thống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43584" y="3063240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15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3319272"/>
            <a:ext cx="0" cy="475488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3465576"/>
            <a:ext cx="54864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152144" y="3794760"/>
            <a:ext cx="219456" cy="329184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3794760"/>
            <a:ext cx="219456" cy="329184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đọc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838944" y="4297680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E24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66960" y="4553712"/>
            <a:ext cx="0" cy="475488"/>
          </a:xfrm>
          <a:prstGeom prst="line">
            <a:avLst/>
          </a:prstGeom>
          <a:noFill/>
          <a:ln w="25400">
            <a:solidFill>
              <a:srgbClr val="9E24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4700016"/>
            <a:ext cx="548640" cy="0"/>
          </a:xfrm>
          <a:prstGeom prst="line">
            <a:avLst/>
          </a:prstGeom>
          <a:noFill/>
          <a:ln w="25400">
            <a:solidFill>
              <a:srgbClr val="9E24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9747504" y="5029200"/>
            <a:ext cx="219456" cy="329184"/>
          </a:xfrm>
          <a:prstGeom prst="line">
            <a:avLst/>
          </a:prstGeom>
          <a:noFill/>
          <a:ln w="25400">
            <a:solidFill>
              <a:srgbClr val="9E24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66960" y="5029200"/>
            <a:ext cx="219456" cy="329184"/>
          </a:xfrm>
          <a:prstGeom prst="line">
            <a:avLst/>
          </a:prstGeom>
          <a:noFill/>
          <a:ln w="25400">
            <a:solidFill>
              <a:srgbClr val="9E24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5394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42832" y="2487168"/>
            <a:ext cx="1828800" cy="896112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42832" y="2487168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«hệ phụ»
</a:t>
            </a:r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 + Gemini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" y="614476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nhân chính: </a:t>
            </a:r>
            <a:pPr algn="ctr" indent="0" marL="0"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đọc, Quản trị viên.   </a:t>
            </a:r>
            <a:pPr algn="ctr" indent="0" marL="0">
              <a:buNone/>
            </a:pPr>
            <a:r>
              <a:rPr lang="en-US" sz="1100" b="1" dirty="0">
                <a:solidFill>
                  <a:srgbClr val="9A7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nhân phụ: </a:t>
            </a:r>
            <a:pPr algn="ctr" indent="0" marL="0">
              <a:buNone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 + Gemini (hỗ trợ UC01 dịch &amp; UC04 Q&amp;A).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YÊU CẦU CHỨC NĂNG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nhóm yêu cầu chức năng (F01–F09)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293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18488" y="1929384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&amp; hồ sơ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ký/đăng nhập, cookie HttpOnly, avatar, đổi mật khẩu/email, GDPR.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2168" y="1847088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783080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9328" y="19293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9720" y="1929384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ảnh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9328" y="2350008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ảnh hoặc batch; kiểm tra định dạng/kích thước; gắn series/chapter.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3400" y="1847088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9392" y="1783080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0560" y="19293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0952" y="1929384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90560" y="2350008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OCR → inpaint → dịch → embedding; trạng thái &amp; % tiến trình.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" y="3291840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227832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741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18488" y="3374136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&amp; overlay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3794760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Xem/so sánh bản dịch, sửa bản dịch per-bubble, lịch sử hiệu đính.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92168" y="3291840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Shape 23"/>
          <p:cNvSpPr/>
          <p:nvPr/>
        </p:nvSpPr>
        <p:spPr>
          <a:xfrm>
            <a:off x="4328160" y="3227832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9328" y="33741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79720" y="3374136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Hỏi–đáp RAG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9328" y="3794760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theo trang/series; tìm ngữ nghĩa; trả lời kèm nguồn trích.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3400" y="3291840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9392" y="3227832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0560" y="33741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0952" y="3374136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&amp; chapter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90560" y="3794760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series/chương, gán &amp; sắp thứ tự trang, ảnh bìa tự động.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" y="4736592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4672584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4818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8488" y="4818888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68096" y="5239512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trang/series đã xử lý, lọc &amp; phân trang, tiếp tục đọc.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92168" y="4736592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4328160" y="4672584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9328" y="4818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79720" y="4818888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gói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529328" y="5239512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5/ngày; gói basic/pro/premium; ledger giao dịch; Stripe.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53400" y="4736592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5" name="Shape 43"/>
          <p:cNvSpPr/>
          <p:nvPr/>
        </p:nvSpPr>
        <p:spPr>
          <a:xfrm>
            <a:off x="8089392" y="4672584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90560" y="4818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0952" y="4818888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290560" y="5239512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tích, quản lý người dùng, kiểm duyệt, sức khoẻ, cấu hình, audit.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YÊU CẦU PHI CHỨC NĂNG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lượng: hiệu năng, bảo mật, sẵn sàng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giây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UI tương tác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9" name="Shape 7"/>
          <p:cNvSpPr/>
          <p:nvPr/>
        </p:nvSpPr>
        <p:spPr>
          <a:xfrm>
            <a:off x="3392424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giây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75304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AI mỗi trang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81928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giây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Q&amp;A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07424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3416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6296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 ảnh → 100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26296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theo gói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" y="3429000"/>
            <a:ext cx="5285232" cy="27889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364992"/>
            <a:ext cx="5285232" cy="278892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639312"/>
            <a:ext cx="146304" cy="38404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362102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1248" y="4142232"/>
            <a:ext cx="47365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— không lộ token cho JS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user/admin + RLS trên Supabase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Rate-limit, validate input, không hardcode secret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+ CSP chặt, captcha Turnstile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373368" y="3429000"/>
            <a:ext cx="5285232" cy="27889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3364992"/>
            <a:ext cx="5285232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3639312"/>
            <a:ext cx="146304" cy="384048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8" name="Text 26"/>
          <p:cNvSpPr/>
          <p:nvPr/>
        </p:nvSpPr>
        <p:spPr>
          <a:xfrm>
            <a:off x="6821424" y="362102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 &amp; Toàn vẹn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83680" y="4142232"/>
            <a:ext cx="47365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CDN Vercel; backend Docker co giãn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giới hạn luồng AI, tránh OOM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credit chỉ ghi thêm (append-only)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đánh dấu 'failed' cho trang treo khi restart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KIẾN TRÚC HỆ THỐNG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dịch vụ triển khai độc lập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5120640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1206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5120640" cy="47548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0136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Next.js 16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React 19 · 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Upload · Reader · Q&amp;A · Library · Admin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api.ts: fetch wrapper + retry cold-start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" y="3493008"/>
            <a:ext cx="5120640" cy="1417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429000"/>
            <a:ext cx="51206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429000"/>
            <a:ext cx="5120640" cy="47548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4728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— FastAPI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5935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· Docker · Singapore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auth · upload · qa · series · admin…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ai_pipeline · rag · credit · captcha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67728" y="1847088"/>
            <a:ext cx="4690872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1783080"/>
            <a:ext cx="469087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783080"/>
            <a:ext cx="4690872" cy="475488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19" name="Text 17"/>
          <p:cNvSpPr/>
          <p:nvPr/>
        </p:nvSpPr>
        <p:spPr>
          <a:xfrm>
            <a:off x="7068312" y="1801368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68312" y="2313432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6600" y="260604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(RAG) + pg_trgm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Storage (originals/thumbnails)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67728" y="3493008"/>
            <a:ext cx="4690872" cy="1417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429000"/>
            <a:ext cx="469087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3429000"/>
            <a:ext cx="4690872" cy="47548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7068312" y="3447288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 — FastAPI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68312" y="3959352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· ~4GB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86600" y="4251960"/>
            <a:ext cx="4325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manga-ocr · LaMa · render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embedding câu (pgvector)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67728" y="5138928"/>
            <a:ext cx="4690872" cy="8412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6903720" y="5074920"/>
            <a:ext cx="4690872" cy="8412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50749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   </a:t>
            </a:r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ngữ cảnh + sinh câu trả lời RAG · xoay vòng nhiều API key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27248" y="3154680"/>
            <a:ext cx="0" cy="27432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64408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cookie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4114800"/>
            <a:ext cx="123444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80644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35440" y="4846320"/>
            <a:ext cx="0" cy="22860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PIPELINE DỊCH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ảnh gốc đến bản dịch overlay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286000"/>
            <a:ext cx="1670304" cy="54864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bong bóng thoại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5520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02408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8400" y="2286000"/>
            <a:ext cx="1670304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2529840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95600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manga-ocr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84704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chữ Nhật trong bbox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26992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73880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4309872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872" y="2286000"/>
            <a:ext cx="1670304" cy="548640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1" name="Text 19"/>
          <p:cNvSpPr/>
          <p:nvPr/>
        </p:nvSpPr>
        <p:spPr>
          <a:xfrm>
            <a:off x="4401312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7072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56176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chữ gốc (inpaint)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98464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45352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181344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2286000"/>
            <a:ext cx="1670304" cy="5486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8" name="Text 26"/>
          <p:cNvSpPr/>
          <p:nvPr/>
        </p:nvSpPr>
        <p:spPr>
          <a:xfrm>
            <a:off x="6272784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38544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27648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có ngữ cảnh → Việt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69936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16824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8052816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52816" y="2286000"/>
            <a:ext cx="1670304" cy="54864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5" name="Text 33"/>
          <p:cNvSpPr/>
          <p:nvPr/>
        </p:nvSpPr>
        <p:spPr>
          <a:xfrm>
            <a:off x="8144256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10016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199120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chữ Việt vào bbox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741408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88296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9924288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24288" y="2286000"/>
            <a:ext cx="1670304" cy="548640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42" name="Text 40"/>
          <p:cNvSpPr/>
          <p:nvPr/>
        </p:nvSpPr>
        <p:spPr>
          <a:xfrm>
            <a:off x="10015728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381488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070592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hoá → pgvector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0936" y="4956048"/>
            <a:ext cx="11027664" cy="105156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46" name="Shape 44"/>
          <p:cNvSpPr/>
          <p:nvPr/>
        </p:nvSpPr>
        <p:spPr>
          <a:xfrm>
            <a:off x="566928" y="4892040"/>
            <a:ext cx="11027664" cy="105156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" y="4892040"/>
            <a:ext cx="10387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trang manga (JPG/PNG/WebP ≤ 10MB)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đã dịch (manga-thumbnails) + bubble_data + embeddings · tiến trình realtime qua WebSocket, huỷ hợp tác được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HỎI–ĐÁP THÔNG MINH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Q&amp;A trên nội dung truyện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2103120"/>
            <a:ext cx="252374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322576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hỏi về 1 trang / series bằng ngôn ngữ tự nhiên.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27248" y="3200400"/>
            <a:ext cx="237744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6557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01568" y="2103120"/>
            <a:ext cx="252374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02736" y="2322576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0273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0273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vector hoá câu hỏi.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3200400"/>
            <a:ext cx="237744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021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36208" y="2103120"/>
            <a:ext cx="252374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2322576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3737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pgvector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3737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 top-k đoạn text bong bóng liên quan.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96528" y="3200400"/>
            <a:ext cx="237744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3485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9070848" y="2103120"/>
            <a:ext cx="2523744" cy="21945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72016" y="2322576"/>
            <a:ext cx="566928" cy="56692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8" name="Text 26"/>
          <p:cNvSpPr/>
          <p:nvPr/>
        </p:nvSpPr>
        <p:spPr>
          <a:xfrm>
            <a:off x="927201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7201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câu trả lời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7201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câu hỏi → Gemini (xoay vòng key) trả lời.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" y="4956048"/>
            <a:ext cx="3493008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4892040"/>
            <a:ext cx="349300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0383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credit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86384" y="55138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trừ mỗi câu trả lời thành công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98264" y="4956048"/>
            <a:ext cx="3493008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6" name="Shape 34"/>
          <p:cNvSpPr/>
          <p:nvPr/>
        </p:nvSpPr>
        <p:spPr>
          <a:xfrm>
            <a:off x="4334256" y="4892040"/>
            <a:ext cx="349300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50383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nguồn trích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4553712" y="55138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đoạn text làm bằng chứng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65592" y="4956048"/>
            <a:ext cx="3493008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8101584" y="4892040"/>
            <a:ext cx="349300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0383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768-dim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8321040" y="55138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gemini-001 · pgvector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CÔNG NGHỆ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Ngăn xếp công nghệ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2551176" cy="65836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Framer Motion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offline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3392424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1810512"/>
            <a:ext cx="2551176" cy="65836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/ Gunicorn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rate-limit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OpenTelemetry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81928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10512"/>
            <a:ext cx="2551176" cy="65836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manga-ocr (fine-tuned)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 inpaint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07424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3416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3416" y="1810512"/>
            <a:ext cx="2551176" cy="658368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Hạ tầng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2872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pg_trgm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· HF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BẢO MẬT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thủ nhiều lớp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48256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(không lộ token cho JS); auto-refresh; Google OAuth.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92168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4328160" y="1810512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5904" y="2048256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65904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9408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quyền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4192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user/admin ở API + RLS trên mọi bảng dữ liệu người dùng.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153400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9392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7136" y="2048256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Text 17"/>
          <p:cNvSpPr/>
          <p:nvPr/>
        </p:nvSpPr>
        <p:spPr>
          <a:xfrm>
            <a:off x="8327136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30640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lạm dụng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5424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(SlowAPI) theo endpoint; captcha Turnstile ở đăng ký / quên MK.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30936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941064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08176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&amp; CSP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+ CSP chặt trên mọi response, kể cả /docs.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4392168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4328160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5904" y="4178808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1" name="Text 29"/>
          <p:cNvSpPr/>
          <p:nvPr/>
        </p:nvSpPr>
        <p:spPr>
          <a:xfrm>
            <a:off x="4565904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69408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upload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84192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verify() chống giả mạo MIME; chỉ nhận JPEG/PNG/WebP thật.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8153400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5" name="Shape 33"/>
          <p:cNvSpPr/>
          <p:nvPr/>
        </p:nvSpPr>
        <p:spPr>
          <a:xfrm>
            <a:off x="8089392" y="3941064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7136" y="4178808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7" name="Text 35"/>
          <p:cNvSpPr/>
          <p:nvPr/>
        </p:nvSpPr>
        <p:spPr>
          <a:xfrm>
            <a:off x="8327136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30640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SSRF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45424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chỉ nhận domain trong allowlist khi nhập từ nguồn ngoài.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TRIỂN KHAI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nền tảng, tự động deploy từ 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2551176" cy="603504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khi push main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92424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810512"/>
            <a:ext cx="2551176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75304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5304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· Docker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75304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· free tier 512MB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81928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10512"/>
            <a:ext cx="2551176" cy="60350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· ~4GB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Docker thủ công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07424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9043416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43416" y="1810512"/>
            <a:ext cx="2551176" cy="603504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8" name="Text 26"/>
          <p:cNvSpPr/>
          <p:nvPr/>
        </p:nvSpPr>
        <p:spPr>
          <a:xfrm>
            <a:off x="9208008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Storage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26296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26296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us-east-1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26296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+ Auth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" y="4956048"/>
            <a:ext cx="11027664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4892040"/>
            <a:ext cx="11027664" cy="10515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892040"/>
            <a:ext cx="10387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hành:  </a:t>
            </a:r>
            <a:pPr indent="0" marL="0">
              <a:buNone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ping chống ngủ (Render/HF) · health check /health &amp; /health/deep · Sentry + OpenTelemetry giám sát · Supabase PITR backup 7 ngày.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MÔ HÌNH ML &amp; ĐÁNH GIÁ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huấn luyện vượt ngưỡng đặt 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806440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8064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5681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· Phát hiện bong bóng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2677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Manga109-s · test 956 ảnh / 14.130 box · ngưỡng 85%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04088" y="2606040"/>
          <a:ext cx="5532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922008" y="1874520"/>
            <a:ext cx="4736592" cy="19751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0" y="1810512"/>
            <a:ext cx="4736592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1810512"/>
            <a:ext cx="146304" cy="19751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Text 9"/>
          <p:cNvSpPr/>
          <p:nvPr/>
        </p:nvSpPr>
        <p:spPr>
          <a:xfrm>
            <a:off x="7168896" y="1956816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manga-ocr (fine-tuned)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68896" y="232257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tiếng Nhật · test 14.130 mẫu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68896" y="2679192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68896" y="320040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52688" y="2679192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52688" y="320040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Char-Acc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936480" y="2679192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67.5%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936480" y="320040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22008" y="3995928"/>
            <a:ext cx="4736592" cy="19751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0" y="3931920"/>
            <a:ext cx="4736592" cy="1975104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0" y="3931920"/>
            <a:ext cx="146304" cy="197510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3" name="Text 20"/>
          <p:cNvSpPr/>
          <p:nvPr/>
        </p:nvSpPr>
        <p:spPr>
          <a:xfrm>
            <a:off x="7168896" y="4078224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68896" y="4443984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ngữ cảnh · human-in-the-loop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68896" y="4800600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168896" y="5321808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hài lòng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52688" y="4800600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Flash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552688" y="5321808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936480" y="4800600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768-dim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936480" y="5321808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KIỂM THỬ &amp;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được kiểm thử &amp; tự động hoá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943600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943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385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kiểm thử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2377440"/>
            <a:ext cx="420624" cy="420624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08176" y="23225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Katalon Studio</a:t>
            </a:r>
            <a:pPr indent="0" marL="0">
              <a:buNone/>
            </a:pPr>
            <a:r>
              <a:rPr lang="en-US" sz="10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PA5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08176" y="263347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UI tự động: UC01 Upload–Dịch &amp; UC02 Đọc overlay · ≥2 scenario/UC · Pass/Fail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3072384"/>
            <a:ext cx="420624" cy="420624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08176" y="3017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/ Component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08176" y="332841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 (frontend)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767328"/>
            <a:ext cx="420624" cy="42062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08176" y="37124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08176" y="402336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respx (mock Supabase/Gemini)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" y="4462272"/>
            <a:ext cx="420624" cy="420624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08176" y="44074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08176" y="471830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Playwright: auth, home, protected, mobile, forum, edge-cases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" y="5157216"/>
            <a:ext cx="420624" cy="42062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08176" y="51023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Tĩnh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08176" y="541324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 · ESLint · Python type hints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76288" y="1874520"/>
            <a:ext cx="4782312" cy="416052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12280" y="1810512"/>
            <a:ext cx="4782312" cy="416052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5 JOB SONG SONG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40880" y="2423160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24231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24231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(tsc)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22992" y="24231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40880" y="3081528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30815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9520" y="30815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(ESLint)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22992" y="308152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3739896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373989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89520" y="37398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222992" y="37398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4398264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43982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89520" y="439826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222992" y="439826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40880" y="5056632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505663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89520" y="50566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pytest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222992" y="505663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4088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PR phải review + CI xanh trước khi merge vào main.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· TÍNH NĂNG NỔI BẬT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Ngoài lõi dịch — một hệ sinh thái đầy đủ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66544"/>
            <a:ext cx="420624" cy="420624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nâng cao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chế độ đọc, phím tắt, vuốt mobile, từ điển bong bóng, cảnh báo độ tin cậy thấp.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92168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4328160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5904" y="2066544"/>
            <a:ext cx="420624" cy="42062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65904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1120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QC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4192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đính per-bubble (approve/reject), tìm–thay thế hàng loạt, phản hồi 👍/👎.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153400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9392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7136" y="2066544"/>
            <a:ext cx="420624" cy="420624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19" name="Text 17"/>
          <p:cNvSpPr/>
          <p:nvPr/>
        </p:nvSpPr>
        <p:spPr>
          <a:xfrm>
            <a:off x="8327136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12352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 viện &amp; chia sẻ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5424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bản chương công khai, đọc ẩn danh, chia sẻ link TTL + OG image.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30936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197096"/>
            <a:ext cx="420624" cy="42062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89888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đàn (mention, đính kèm, vote), bình luận chương, hồ sơ /u/{username}.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4392168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4328160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5904" y="4197096"/>
            <a:ext cx="420624" cy="420624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65904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51120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(Wibu)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84192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Bookmark, rating, reading list, mục tiêu, XP/level, thành tựu + thông báo.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8153400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5" name="Shape 33"/>
          <p:cNvSpPr/>
          <p:nvPr/>
        </p:nvSpPr>
        <p:spPr>
          <a:xfrm>
            <a:off x="8089392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7136" y="4197096"/>
            <a:ext cx="420624" cy="42062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37" name="Text 35"/>
          <p:cNvSpPr/>
          <p:nvPr/>
        </p:nvSpPr>
        <p:spPr>
          <a:xfrm>
            <a:off x="8327136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12352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thanh toán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45424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5/ngày; gói basic/pro/premium; Stripe checkout/webhook; điểm danh streak.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· DEMO · LUỒNG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&amp; Upload → Dịch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(Trang chủ)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+ nền anime động + 'Tiếp tục đọc'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309360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Kéo-thả trang manga Nhật, chọn cấu hình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nhấn khi demo:  </a:t>
            </a:r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→ kéo-thả 1 trang → pipeline chạy realtime (YOLOv8 → manga-ocr → LaMa → Gemini).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· DEMO · LUỒNG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overlay &amp; Studio QC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/reader?page=…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dịch phủ bong bóng, bật/tắt so sánh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309360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/studio (QC)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đính per-bubble, tìm–thay thế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nhấn khi demo:  </a:t>
            </a:r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Reader xem overlay tiếng Việt; bật/tắt bản gốc; mở từ điển bong bóng; hiệu đính trong Studio.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· DEMO · LUỒNG B + Q&amp;A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cả chương · RAG Q&amp;A · Thư viện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 (batch) · /qa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nhiều trang + tiến trình x/N realtime; hỏi–đáp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309360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/library · /admin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công khai; bảng điều khiển quản trị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nhấn khi demo:  </a:t>
            </a:r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cả chương xử lý tuần tự; hỏi AI về nội dung; xuất bản lên thư viện; xem admin dashboard.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 · NHÌN THẲNG VÀO HẠN CHẾ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&amp; lỗi đã biết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2024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free &amp; HF Spaces ngủ sau khi rảnh → lần đầu chậm 15–60s (đã có keep-alive).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" y="297180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90779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01752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 Gemini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" y="332841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giới hạn RPD → xoay vòng key + throttle + cache; cao điểm vẫn có thể bị giới hạn.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" y="406908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400507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11480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chữ hiệu ứng (SFX)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" y="442569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viết tay / hiệu ứng độ chính xác giảm; bong bóng SFX có thể bị bỏ qua.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" y="516636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510235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521208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 cục chữ Việt dài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6384" y="552297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Bong bóng nhỏ phải thu nhỏ cỡ chữ hoặc cắt bớt (có tooltip đầy đủ).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76288" y="1874520"/>
            <a:ext cx="4782312" cy="440740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810512"/>
            <a:ext cx="4782312" cy="4407408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ĐÃ BIẾT (đang xử lý)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423160"/>
            <a:ext cx="43251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phiên hết hạn giữa chừng → đôi khi cần tải lại trang (đang hoàn thiện auto-refresh).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mất gói khi mạng chập chờn → fallback polling, tiến trình có thể 'nhảy' %.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 ảnh có thể hết hạn với phiên đọc rất dài → đã thêm retry tải ảnh.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mobile cũ: nền anime động có thể tụt FPS (tắt được trong cài đặt).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 · HƯỚNG PHÁT TRIỂN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tiếp theo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53312" y="2048256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&amp; dịch tốt hơn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06624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thêm cho SFX/chữ viết tay; hỗ trợ thêm cặp ngôn ngữ (Hàn, Anh).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392168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7616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14544" y="2048256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xếp bong bóng RTL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4192" y="2706624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thứ tự đọc phải-sang-trái cho bố cục phức tạp.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153400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9392" y="1810512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8848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75776" y="2048256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độ sẵn sàng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45424" y="2706624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tier trả phí giảm cold start; hàng đợi tác vụ chuyên dụng.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30936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53312" y="417880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 nhân hoá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837176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truyện theo lịch sử đọc; cải thiện RAG đa-trang / cả series.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4392168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Shape 23"/>
          <p:cNvSpPr/>
          <p:nvPr/>
        </p:nvSpPr>
        <p:spPr>
          <a:xfrm>
            <a:off x="4328160" y="3941064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7616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114544" y="417880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duyệt &amp; bản quyền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4192" y="4837176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chống vi phạm bản quyền, quy trình DMCA rõ ràng.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8153400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9392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884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875776" y="417880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di động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45424" y="4837176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PWA thành app; đọc offline mượt hơn.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9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 · KẾT LUẬN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68680"/>
            <a:ext cx="10844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sản phẩm AI hoàn chỉnh, chạy thật.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3816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86968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triển khai độc lập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93592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9584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95.3%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66744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phát hiện bong bóng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73368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OCR tiếng Nhật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53144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9136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226296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yêu cầu chức năng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" y="3813048"/>
            <a:ext cx="10844784" cy="2286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3749040"/>
            <a:ext cx="10844784" cy="228600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ĐẠT ĐƯỢC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315968"/>
            <a:ext cx="10204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AI end-to-end: phát hiện → OCR → xoá nền → dịch ngữ cảnh → RAG Q&amp;A.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production: microservice, WebSocket, bảo mật nhiều lớp, CI 5 job, giám sát.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quy trình CNPM: RUP rút gọn + Scrum, tài liệu SAD/SRS/SDP đồng bộ code thật.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9A9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9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120640"/>
            <a:ext cx="822960" cy="82296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5440680"/>
            <a:ext cx="822960" cy="82296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4" name="Shape 2"/>
          <p:cNvSpPr/>
          <p:nvPr/>
        </p:nvSpPr>
        <p:spPr>
          <a:xfrm>
            <a:off x="10396728" y="630936"/>
            <a:ext cx="1371600" cy="13716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5" name="Shape 3"/>
          <p:cNvSpPr/>
          <p:nvPr/>
        </p:nvSpPr>
        <p:spPr>
          <a:xfrm>
            <a:off x="10314432" y="548640"/>
            <a:ext cx="137160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assets/hcm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36" y="790974"/>
            <a:ext cx="1078992" cy="8869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63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 &amp; CÁC BẠN ĐÃ LẮNG NGHE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32688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&amp; Thảo luận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1024128" y="3063240"/>
            <a:ext cx="5486400" cy="1828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0584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storylens-api.onrender.com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huynhtrungkiet09032005-ai-storylen.hf.space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 DEMO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demo.pa3@storylens.app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5577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0040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— CSC10011 · GVHD: GS.TS Nguyễn Văn Vũ, ThS. Trương Phước Lộc, ThS. Ngô Ngọc Đăng Khoa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HCMUS · CSC10011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StoryLens — Báo cáo cuối kỳ</dc:title>
  <dc:subject>PptxGenJS Presentation</dc:subject>
  <dc:creator>Nhóm 1 – StoryLens</dc:creator>
  <cp:lastModifiedBy>Nhóm 1 – StoryLens</cp:lastModifiedBy>
  <cp:revision>1</cp:revision>
  <dcterms:created xsi:type="dcterms:W3CDTF">2026-07-09T10:02:57Z</dcterms:created>
  <dcterms:modified xsi:type="dcterms:W3CDTF">2026-07-09T10:02:57Z</dcterms:modified>
</cp:coreProperties>
</file>