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YOLOv8</c:v>
                </c:pt>
              </c:strCache>
            </c:strRef>
          </c:tx>
          <c:spPr>
            <a:solidFill>
              <a:srgbClr val="D031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915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031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031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0311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0311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mAP@.5</c:v>
                  </c:pt>
                  <c:pt idx="1">
                    <c:v>mAP@.5:.95</c:v>
                  </c:pt>
                  <c:pt idx="2">
                    <c:v>Precision</c:v>
                  </c:pt>
                  <c:pt idx="3">
                    <c:v>Recall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95.3</c:v>
                </c:pt>
                <c:pt idx="1">
                  <c:v>84.4</c:v>
                </c:pt>
                <c:pt idx="2">
                  <c:v>97.3</c:v>
                </c:pt>
                <c:pt idx="3">
                  <c:v>93.8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00" u="none">
                  <a:solidFill>
                    <a:srgbClr val="1915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9151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mở đầu. Giới thiệu tên sản phẩm StoryLens, một câu định vị, môn học/GVHD/nhóm. Nhớ điền tên thành viên nhóm.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5 phần lớn. Phần III và IV là trọng tâm kỹ thuật; phần demo nằm trong IV.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điểm đau chính: fan-sub chậm, dịch mất ngữ cảnh, không hỏi được nội dung. Dẫn sang giải pháp.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Tuyên ngôn định vị theo mẫu Vision. Bốn trụ giá trị: dịch ngữ cảnh, đọc overlay, RAG Q&amp;A, cộng đồng.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so sánh nhanh. Hàng StoryLens tô đỏ để nổi bật. Nhấn: chỉ StoryLens có cả overlay lẫn RAG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persona từ tài liệu Vision. Nhấn mạnh nhu cầu chung: dịch chính xác + hỏi được nội dung.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sẽ tập trung UC01+UC02 (luồng A) và UC03 (luồng B) — đủ yêu cầu ≥2 use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nhóm yêu cầu chức năng theo SRS. F03 (pipeline AI) và F05 (RAG) là lõi AI của hệ thống.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NFR chia 2 nhóm: bảo mật và vận hành/toàn vẹn. Bốn con số hiệu năng ở trên là mục tiêu đã đặt trong SRS.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Kiến trúc microservice + phân tầng. Backend nhẹ (Render free) tách khỏi AI Module nặng (HF Spaces). Supabase là state dùng chung.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6 bước chạy trong luồng nền có semaphore. Có fallback M2M100/NLLB nếu Gemini lỗi. Render dùng binary-search cỡ chữ để vừa bbox.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RAG: embedding → tìm pgvector → Gemini sinh câu trả lời kèm nguồn. Mỗi câu trả lời thành công trừ 1 credit.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quả ML thật đưa vào SAD mục 7.5. YOLOv8 mAP@0.5 95.3% và OCR CER 6.1% đều vượt ngưỡng. Gemini đánh giá bằng human-in-the-loop.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đầy đủ 3 dịch vụ + dữ liệu. Nhấn: mọi thứ chạy trên tier miễn phí/rẻ nhưng vẫn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Hệ sinh thái quanh lõi dịch: reader, QC, thư viện, cộng đồng, gamification, thanh toán. Cho thấy quy mô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Chụp trang chủ và trang upload. Khi demo: đăng nhập tài khoản demo, kéo-thả 1 trang, chờ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Chụp Reader có overlay dịch và màn Studio QC. Cần AI Module sống để có bản dịch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Chụp batch upload + tiến trình, Q&amp;A, thư viện công khai và admin. Đây là luồng B (UC03) + RAG (UC04).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Quy trình theo RUP rút gọn + Scrum (LN03b). Năm vai trò, mỗi vai trò có backup; Implementer cần 3 người.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Kiểm thử đa tầng + CI 5 job song song. Định nghĩa 'done' gồm review, test pass, deploy &amp; verify trên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Bảo mật nhiều lớp: xác thực cookie, RBAC+RLS, rate-limit+captcha, CSP, kiểm tra upload, chống SSRF.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nền tảng độc lập, auto-deploy từ main. Có keep-alive, health check, giám sát và backup PITR.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Trung thực về hạn chế: cold start, quota, OCR SFX, bố cục chữ dài — và các lỗi đang xử lý. Cho thấy sự chín chắn kỹ thuật.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OCR/dịch tốt hơn, RTL, giảm cold start, cá nhân hoá, bản quyền, mobile.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Chốt lại: sản phẩm AI hoàn chỉnh chạy thật, kỹ thuật production, áp dụng đúng quy trình CNPM. Nhấn 4 con số.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cảm ơn + Q&amp;A. Sẵn sàng demo trực tiếp nếu Thầy yêu cầu. Nhớ đánh thức AI Module trước khi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280160"/>
            <a:ext cx="2926080" cy="2926080"/>
          </a:xfrm>
          <a:prstGeom prst="rect">
            <a:avLst/>
          </a:prstGeom>
          <a:solidFill>
            <a:srgbClr val="3A332C"/>
          </a:solidFill>
          <a:ln/>
        </p:spPr>
      </p:sp>
      <p:sp>
        <p:nvSpPr>
          <p:cNvPr id="4" name="Shape 2"/>
          <p:cNvSpPr/>
          <p:nvPr/>
        </p:nvSpPr>
        <p:spPr>
          <a:xfrm>
            <a:off x="10744200" y="502920"/>
            <a:ext cx="822960" cy="82296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822960"/>
            <a:ext cx="822960" cy="822960"/>
          </a:xfrm>
          <a:prstGeom prst="rect">
            <a:avLst/>
          </a:prstGeom>
          <a:solidFill>
            <a:srgbClr val="E0A32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60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ĐỒ ÁN CUỐI KỲ · PA3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1325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StoryLens</a:t>
            </a:r>
            <a:endParaRPr lang="en-US" sz="8200" dirty="0"/>
          </a:p>
        </p:txBody>
      </p:sp>
      <p:sp>
        <p:nvSpPr>
          <p:cNvPr id="8" name="Shape 6"/>
          <p:cNvSpPr/>
          <p:nvPr/>
        </p:nvSpPr>
        <p:spPr>
          <a:xfrm>
            <a:off x="1024128" y="2798064"/>
            <a:ext cx="7680960" cy="1828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9260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AI dịch &amp; hỏi–đáp Manga theo ngữ cảnh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05840" y="34564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phát hiện · đọc · xoá nền · dịch bong bóng thoại (Nhật/Trung → Việt) → đọc overlay + RAG Q&amp;A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 HỌC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CSC10011 — CNPM cho hệ thống AI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20440" y="46177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GVHD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20440" y="485546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GS.TS Nguyễn Văn Vũ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35040" y="46177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0" y="485546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— StoryLens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49640" y="46177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KỲ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49640" y="485546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Xuân 2026 · HCMUS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58064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 nhóm: ‹điền MSSV – Họ tên các thành viên›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6144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storylens-api.onrender.com  ·  Next.js 16 · FastAPI · HuggingFace Spaces · Supabase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47088"/>
            <a:ext cx="11027664" cy="8412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83080"/>
            <a:ext cx="11027664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20240"/>
            <a:ext cx="566928" cy="56692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81328" y="1901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 &amp; Vấn đề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53328" y="1901952"/>
            <a:ext cx="5358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Nhu cầu đọc manga · điểm đau người dùng · định vị sản phẩm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" y="2798064"/>
            <a:ext cx="11027664" cy="8412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2734056"/>
            <a:ext cx="11027664" cy="841248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871216"/>
            <a:ext cx="566928" cy="56692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81328" y="28529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&amp; Người dùng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53328" y="2852928"/>
            <a:ext cx="5358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· use case · yêu cầu chức năng và phi chức năng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" y="3749040"/>
            <a:ext cx="11027664" cy="8412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685032"/>
            <a:ext cx="11027664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822192"/>
            <a:ext cx="566928" cy="56692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822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81328" y="38039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&amp; AI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053328" y="3803904"/>
            <a:ext cx="5358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dịch vụ · pipeline dịch · RAG Q&amp;A · mô hình ML &amp; kết quả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" y="4700016"/>
            <a:ext cx="11027664" cy="8412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4636008"/>
            <a:ext cx="11027664" cy="841248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773168"/>
            <a:ext cx="566928" cy="56692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773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81328" y="4754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Hiện thực &amp; Chất lượng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053328" y="4754880"/>
            <a:ext cx="5358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· demo · kiểm thử/CI · bảo mật · triển khai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936" y="5650992"/>
            <a:ext cx="11027664" cy="8412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586984"/>
            <a:ext cx="11027664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5724144"/>
            <a:ext cx="566928" cy="56692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5724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481328" y="57058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&amp; Hướng phát triển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053328" y="5705856"/>
            <a:ext cx="5358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· lỗi đã biết · roadmap · kết luận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BỐI CẢNH &amp; VẤN ĐỀ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đề: đọc manga gốc vẫn còn nhiều rào cản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47088"/>
            <a:ext cx="11027664" cy="123444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83080"/>
            <a:ext cx="11027664" cy="1234440"/>
          </a:xfrm>
          <a:prstGeom prst="rect">
            <a:avLst/>
          </a:prstGeom>
          <a:solidFill>
            <a:srgbClr val="191512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83080"/>
            <a:ext cx="10387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“Thiếu một nền tảng dịch manga tự động có AI hiểu ngữ cảnh và hỏi–đáp thông minh.”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hưởng tới cộng đồng đọc manga Việt Nam (15–28 tuổi) muốn tiếp cận truyện chất lượng cao chưa có bản dịch.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0936" y="3374136"/>
            <a:ext cx="3493008" cy="23317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3310128"/>
            <a:ext cx="3493008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584448"/>
            <a:ext cx="457200" cy="45720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224528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Fan-sub chậm &amp; không đều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791456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dịch cộng đồng ra chậm, chất lượng phụ thuộc nhóm dịch, dễ bỏ dở giữa chừng.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98264" y="3374136"/>
            <a:ext cx="3493008" cy="23317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4" name="Shape 12"/>
          <p:cNvSpPr/>
          <p:nvPr/>
        </p:nvSpPr>
        <p:spPr>
          <a:xfrm>
            <a:off x="4334256" y="3310128"/>
            <a:ext cx="3493008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3584448"/>
            <a:ext cx="457200" cy="45720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0288" y="4224528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 dịch mất ngữ cảnh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90288" y="4791456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Lens / dịch từng câu không giữ được xưng hô, mạch truyện, sắc thái nhân vật.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65592" y="3374136"/>
            <a:ext cx="3493008" cy="23317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1584" y="3310128"/>
            <a:ext cx="3493008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57616" y="3584448"/>
            <a:ext cx="457200" cy="45720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22" name="Text 20"/>
          <p:cNvSpPr/>
          <p:nvPr/>
        </p:nvSpPr>
        <p:spPr>
          <a:xfrm>
            <a:off x="8357616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57616" y="4224528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thể hỏi về nội dung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357616" y="4791456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đọc muốn hỏi “nhân vật này là ai?” nhưng không có kênh tra cứu tức thời.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GIẢI PHÁP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StoryLens — dịch có ngữ cảnh + hỏi–đáp RAG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47088"/>
            <a:ext cx="6126480" cy="429768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83080"/>
            <a:ext cx="6126480" cy="429768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TUYÊN NGÔN ĐỊNH VỊ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23317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</a:t>
            </a:r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đọc manga Việt (15–28 tuổi)</a:t>
            </a:r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muốn đọc truyện Nhật chưa có bản dịch chính thức,
</a:t>
            </a:r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StoryLens </a:t>
            </a:r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phép tải trang truyện lên, </a:t>
            </a:r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dịch sang tiếng Việt có ngữ cảnh</a:t>
            </a:r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và </a:t>
            </a:r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 AI bất kỳ điều gì về nội dung</a:t>
            </a:r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42976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 BIỆT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duy nhất kết hợp dịch theo ngữ cảnh + RAG Q&amp;A cho manga tiếng Việt — hiểu toàn bộ câu chuyện, không chỉ từng câu rời rạc.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04888" y="1847088"/>
            <a:ext cx="4553712" cy="1005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0" y="1783080"/>
            <a:ext cx="4553712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87184" y="2011680"/>
            <a:ext cx="548640" cy="54864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12" name="Text 10"/>
          <p:cNvSpPr/>
          <p:nvPr/>
        </p:nvSpPr>
        <p:spPr>
          <a:xfrm>
            <a:off x="718718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909560" y="191109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giữ ngữ cảnh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09560" y="224028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Xưng hô, mạch truyện &amp; sắc thái được Gemini xử lý theo cả trang.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04888" y="2971800"/>
            <a:ext cx="4553712" cy="1005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0" y="2907792"/>
            <a:ext cx="4553712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87184" y="3136392"/>
            <a:ext cx="548640" cy="5486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8" name="Text 16"/>
          <p:cNvSpPr/>
          <p:nvPr/>
        </p:nvSpPr>
        <p:spPr>
          <a:xfrm>
            <a:off x="7187184" y="3136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909560" y="303580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overlay liền mạch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09560" y="3364992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dịch phủ đúng bong bóng; bật/tắt so sánh bản gốc.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04888" y="4096512"/>
            <a:ext cx="4553712" cy="1005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0" y="4032504"/>
            <a:ext cx="4553712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87184" y="4261104"/>
            <a:ext cx="548640" cy="5486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4" name="Text 22"/>
          <p:cNvSpPr/>
          <p:nvPr/>
        </p:nvSpPr>
        <p:spPr>
          <a:xfrm>
            <a:off x="7187184" y="4261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909560" y="4160520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Hỏi–đáp RAG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09560" y="4489704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câu hỏi về nội dung, AI trả lời kèm nguồn trích.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04888" y="5221224"/>
            <a:ext cx="4553712" cy="1005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8" name="Shape 26"/>
          <p:cNvSpPr/>
          <p:nvPr/>
        </p:nvSpPr>
        <p:spPr>
          <a:xfrm>
            <a:off x="7040880" y="5157216"/>
            <a:ext cx="4553712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87184" y="5385816"/>
            <a:ext cx="548640" cy="5486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0" name="Text 28"/>
          <p:cNvSpPr/>
          <p:nvPr/>
        </p:nvSpPr>
        <p:spPr>
          <a:xfrm>
            <a:off x="7187184" y="5385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909560" y="528523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Cộng đồng &amp; thư viện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909560" y="5614416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bản chương, chia sẻ link, diễn đàn, bình luận.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ĐỊNH VỊ CẠNH TRANH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các lựa chọn hiện có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27664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2148840"/>
                <a:gridCol w="2148840"/>
                <a:gridCol w="170078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Giải pháp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5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Dịch ảnh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5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Hiểu ngữ cảnh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5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Hỏi–đáp 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5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Đọc overlay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51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9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Lens / OCR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9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9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DeepL · ChatGPT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9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Thủ công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9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Một phần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realtime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9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Fan-sub thủ công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9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Thủ công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9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9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Ảnh dịch sẵn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StoryLens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31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 động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31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(cả trang)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31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(RAG)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31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311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" y="5861304"/>
            <a:ext cx="11027664" cy="65836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6" name="Shape 3"/>
          <p:cNvSpPr/>
          <p:nvPr/>
        </p:nvSpPr>
        <p:spPr>
          <a:xfrm>
            <a:off x="566928" y="5806440"/>
            <a:ext cx="11027664" cy="658368"/>
          </a:xfrm>
          <a:prstGeom prst="rect">
            <a:avLst/>
          </a:prstGeom>
          <a:solidFill>
            <a:srgbClr val="191512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5806440"/>
            <a:ext cx="10387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học được →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tốc độ tự động của máy + độ chính xác giữ ngữ cảnh của người, cộng thêm khả năng hỏi–đáp mà chưa đối thủ nào có.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NGƯỜI DÙNG MỤC TIÊU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nhóm người dùng chính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3493008" cy="41148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3493008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10512"/>
            <a:ext cx="3493008" cy="822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3852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 đại học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008376" y="1993392"/>
            <a:ext cx="82296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9" name="Text 7"/>
          <p:cNvSpPr/>
          <p:nvPr/>
        </p:nvSpPr>
        <p:spPr>
          <a:xfrm>
            <a:off x="3008376" y="19933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090672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manga Nhật, kiểm tra bản dịch, tìm hiểu nội dung sâu.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 ĐỢI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553712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chính xác; AI trả lời chi tiết về nhân vật &amp; cốt truyện.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4398264" y="1874520"/>
            <a:ext cx="3493008" cy="41148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5" name="Shape 13"/>
          <p:cNvSpPr/>
          <p:nvPr/>
        </p:nvSpPr>
        <p:spPr>
          <a:xfrm>
            <a:off x="4334256" y="1810512"/>
            <a:ext cx="3493008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4256" y="1810512"/>
            <a:ext cx="3493008" cy="822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90288" y="193852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sinh THPT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775704" y="1993392"/>
            <a:ext cx="82296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9" name="Text 17"/>
          <p:cNvSpPr/>
          <p:nvPr/>
        </p:nvSpPr>
        <p:spPr>
          <a:xfrm>
            <a:off x="6775704" y="19933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15–18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90288" y="283464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90288" y="3090672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truyện mới, thảo luận với bạn bè, nắm nhanh nội dung.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4590288" y="429768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 ĐỢI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90288" y="4553712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dễ dùng, dịch nhanh, hỏi được về cốt truyện.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8165592" y="1874520"/>
            <a:ext cx="3493008" cy="41148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5" name="Shape 23"/>
          <p:cNvSpPr/>
          <p:nvPr/>
        </p:nvSpPr>
        <p:spPr>
          <a:xfrm>
            <a:off x="8101584" y="1810512"/>
            <a:ext cx="3493008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1584" y="1810512"/>
            <a:ext cx="3493008" cy="822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357616" y="193852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creator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543032" y="1993392"/>
            <a:ext cx="82296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9" name="Text 27"/>
          <p:cNvSpPr/>
          <p:nvPr/>
        </p:nvSpPr>
        <p:spPr>
          <a:xfrm>
            <a:off x="10543032" y="19933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57616" y="283464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57616" y="3090672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video review manga, giải thích plot cho khán giả.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8357616" y="429768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 ĐỢI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57616" y="4553712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chi tiết, batch cả chương, sẵn sàng trả phí premium.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LUỒNG NGHIỆP VỤ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use case chính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5285232" cy="12801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528523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10512"/>
            <a:ext cx="1170432" cy="128016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7510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25603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38528" y="1975104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&amp; Dịch trang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938528" y="2377440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1 trang → pipeline AI phát hiện, đọc, xoá nền, dịch, render chữ Việt.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73368" y="1874520"/>
            <a:ext cx="5285232" cy="12801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810512"/>
            <a:ext cx="528523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810512"/>
            <a:ext cx="1170432" cy="12801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97510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680960" y="1975104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overlay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680960" y="2377440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bản dịch phủ bong bóng; bật/tắt, copy, từ điển bong bóng, nhiều chế độ đọc.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" y="3282696"/>
            <a:ext cx="5285232" cy="12801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3218688"/>
            <a:ext cx="528523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218688"/>
            <a:ext cx="1170432" cy="1280160"/>
          </a:xfrm>
          <a:prstGeom prst="rect">
            <a:avLst/>
          </a:prstGeom>
          <a:solidFill>
            <a:srgbClr val="285B7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3832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66928" y="39684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38528" y="338328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cả chương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938528" y="3785616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nhiều trang → xử lý tuần tự, tiến trình realtime qua WebSocket.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73368" y="3282696"/>
            <a:ext cx="5285232" cy="12801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3218688"/>
            <a:ext cx="528523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218688"/>
            <a:ext cx="1170432" cy="128016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3832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309360" y="39684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80960" y="338328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Hỏi–đáp RAG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680960" y="3785616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câu hỏi về nội dung; tìm ngữ nghĩa trong pgvector + Gemini trả lời.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" y="4690872"/>
            <a:ext cx="5285232" cy="12801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" y="4626864"/>
            <a:ext cx="528523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4626864"/>
            <a:ext cx="1170432" cy="1280160"/>
          </a:xfrm>
          <a:prstGeom prst="rect">
            <a:avLst/>
          </a:prstGeom>
          <a:solidFill>
            <a:srgbClr val="E0A32E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479145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UC05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66928" y="537667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938528" y="4791456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Xuất bản &amp; chia sẻ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1938528" y="5193792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chương lên thư viện công khai; chia sẻ link có hạn (TTL).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73368" y="4690872"/>
            <a:ext cx="5285232" cy="12801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60" y="4626864"/>
            <a:ext cx="528523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4626864"/>
            <a:ext cx="1170432" cy="1280160"/>
          </a:xfrm>
          <a:prstGeom prst="rect">
            <a:avLst/>
          </a:prstGeom>
          <a:solidFill>
            <a:srgbClr val="3A332C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479145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UC06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309360" y="537667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680960" y="4791456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(Admin)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7680960" y="5193792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tích, kiểm duyệt, giám sát sức khoẻ, cấu hình nguồn AI Module.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YÊU CẦU CHỨC NĂNG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nhóm yêu cầu chức năng (F01–F09)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47088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83080"/>
            <a:ext cx="3505200" cy="1298448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293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18488" y="1929384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thực &amp; hồ sơ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350008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ký/đăng nhập, cookie HttpOnly, avatar, đổi mật khẩu/email, GDPR.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2168" y="1847088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0" name="Shape 8"/>
          <p:cNvSpPr/>
          <p:nvPr/>
        </p:nvSpPr>
        <p:spPr>
          <a:xfrm>
            <a:off x="4328160" y="1783080"/>
            <a:ext cx="350520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9328" y="19293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79720" y="1929384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ảnh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9328" y="2350008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ảnh hoặc batch; kiểm tra định dạng/kích thước; gắn series/chapter.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3400" y="1847088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5" name="Shape 13"/>
          <p:cNvSpPr/>
          <p:nvPr/>
        </p:nvSpPr>
        <p:spPr>
          <a:xfrm>
            <a:off x="8089392" y="1783080"/>
            <a:ext cx="3505200" cy="1298448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0560" y="19293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0952" y="1929384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90560" y="2350008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OCR → inpaint → dịch → embedding; trạng thái &amp; % tiến trình.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" y="3291840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227832"/>
            <a:ext cx="350520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37413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18488" y="3374136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&amp; overlay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8096" y="3794760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Xem/so sánh bản dịch, sửa bản dịch per-bubble, lịch sử hiệu đính.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92168" y="3291840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5" name="Shape 23"/>
          <p:cNvSpPr/>
          <p:nvPr/>
        </p:nvSpPr>
        <p:spPr>
          <a:xfrm>
            <a:off x="4328160" y="3227832"/>
            <a:ext cx="3505200" cy="1298448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9328" y="337413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79720" y="3374136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Hỏi–đáp RAG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9328" y="3794760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theo trang/series; tìm ngữ nghĩa; trả lời kèm nguồn trích.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53400" y="3291840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0" name="Shape 28"/>
          <p:cNvSpPr/>
          <p:nvPr/>
        </p:nvSpPr>
        <p:spPr>
          <a:xfrm>
            <a:off x="8089392" y="3227832"/>
            <a:ext cx="350520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90560" y="337413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0952" y="3374136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&amp; chapter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90560" y="3794760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series/chương, gán &amp; sắp thứ tự trang, ảnh bìa tự động.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0936" y="4736592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5" name="Shape 33"/>
          <p:cNvSpPr/>
          <p:nvPr/>
        </p:nvSpPr>
        <p:spPr>
          <a:xfrm>
            <a:off x="566928" y="4672584"/>
            <a:ext cx="3505200" cy="1298448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48188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18488" y="4818888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68096" y="5239512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trang/series đã xử lý, lọc &amp; phân trang, tiếp tục đọc.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392168" y="4736592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40" name="Shape 38"/>
          <p:cNvSpPr/>
          <p:nvPr/>
        </p:nvSpPr>
        <p:spPr>
          <a:xfrm>
            <a:off x="4328160" y="4672584"/>
            <a:ext cx="350520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9328" y="48188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379720" y="4818888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&amp; gói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529328" y="5239512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5/ngày; gói basic/pro/premium; ledger giao dịch; Stripe.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153400" y="4736592"/>
            <a:ext cx="3505200" cy="12984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45" name="Shape 43"/>
          <p:cNvSpPr/>
          <p:nvPr/>
        </p:nvSpPr>
        <p:spPr>
          <a:xfrm>
            <a:off x="8089392" y="4672584"/>
            <a:ext cx="3505200" cy="1298448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90560" y="48188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F09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140952" y="4818888"/>
            <a:ext cx="227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290560" y="5239512"/>
            <a:ext cx="3102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tích, quản lý người dùng, kiểm duyệt, sức khoẻ, cấu hình, audit.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YÊU CẦU PHI CHỨC NĂNG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lượng: hiệu năng, bảo mật, sẵn sàng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2551176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2551176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011680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 giây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2633472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hồi UI tương tác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56432" y="1874520"/>
            <a:ext cx="2551176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9" name="Shape 7"/>
          <p:cNvSpPr/>
          <p:nvPr/>
        </p:nvSpPr>
        <p:spPr>
          <a:xfrm>
            <a:off x="3392424" y="1810512"/>
            <a:ext cx="2551176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5304" y="2011680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 giây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75304" y="2633472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AI mỗi trang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81928" y="1874520"/>
            <a:ext cx="2551176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810512"/>
            <a:ext cx="2551176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011680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5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 giây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2633472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Q&amp;A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07424" y="1874520"/>
            <a:ext cx="2551176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7" name="Shape 15"/>
          <p:cNvSpPr/>
          <p:nvPr/>
        </p:nvSpPr>
        <p:spPr>
          <a:xfrm>
            <a:off x="9043416" y="1810512"/>
            <a:ext cx="2551176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26296" y="2011680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5 ảnh → 100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226296" y="2633472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theo gói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" y="3429000"/>
            <a:ext cx="5285232" cy="27889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364992"/>
            <a:ext cx="5285232" cy="278892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639312"/>
            <a:ext cx="146304" cy="38404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23" name="Text 21"/>
          <p:cNvSpPr/>
          <p:nvPr/>
        </p:nvSpPr>
        <p:spPr>
          <a:xfrm>
            <a:off x="1078992" y="3621024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mật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1248" y="4142232"/>
            <a:ext cx="47365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3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 — không lộ token cho JS</a:t>
            </a:r>
            <a:endParaRPr lang="en-US" sz="12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3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user/admin + RLS trên Supabase</a:t>
            </a:r>
            <a:endParaRPr lang="en-US" sz="12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3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Rate-limit, validate input, không hardcode secret</a:t>
            </a:r>
            <a:endParaRPr lang="en-US" sz="12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3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+ CSP chặt, captcha Turnstile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6373368" y="3429000"/>
            <a:ext cx="5285232" cy="27889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3364992"/>
            <a:ext cx="5285232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65392" y="3639312"/>
            <a:ext cx="146304" cy="384048"/>
          </a:xfrm>
          <a:prstGeom prst="rect">
            <a:avLst/>
          </a:prstGeom>
          <a:solidFill>
            <a:srgbClr val="285B7A"/>
          </a:solidFill>
          <a:ln/>
        </p:spPr>
      </p:sp>
      <p:sp>
        <p:nvSpPr>
          <p:cNvPr id="28" name="Text 26"/>
          <p:cNvSpPr/>
          <p:nvPr/>
        </p:nvSpPr>
        <p:spPr>
          <a:xfrm>
            <a:off x="6821424" y="3621024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hành &amp; Toàn vẹn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583680" y="4142232"/>
            <a:ext cx="47365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3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CDN Vercel; backend Docker co giãn</a:t>
            </a:r>
            <a:endParaRPr lang="en-US" sz="12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3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 giới hạn luồng AI, tránh OOM</a:t>
            </a:r>
            <a:endParaRPr lang="en-US" sz="12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3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credit chỉ ghi thêm (append-only)</a:t>
            </a:r>
            <a:endParaRPr lang="en-US" sz="12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3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đánh dấu 'failed' cho trang treo khi restart</a:t>
            </a:r>
            <a:endParaRPr lang="en-US" sz="1230" dirty="0"/>
          </a:p>
        </p:txBody>
      </p:sp>
      <p:sp>
        <p:nvSpPr>
          <p:cNvPr id="30" name="Text 28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KIẾN TRÚC HỆ THỐNG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dịch vụ triển khai độc lập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47088"/>
            <a:ext cx="5120640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83080"/>
            <a:ext cx="51206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5120640" cy="47548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01368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Next.js 16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1343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React 19 · 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Upload · Reader · Q&amp;A · Library · Admin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api.ts: fetch wrapper + retry cold-start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" y="3493008"/>
            <a:ext cx="5120640" cy="14173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429000"/>
            <a:ext cx="51206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3429000"/>
            <a:ext cx="5120640" cy="47548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47288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— FastAPI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95935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· Docker · Singapore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4251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Routers: auth · upload · qa · series · admin…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ai_pipeline · rag · credit · captcha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67728" y="1847088"/>
            <a:ext cx="4690872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7" name="Shape 15"/>
          <p:cNvSpPr/>
          <p:nvPr/>
        </p:nvSpPr>
        <p:spPr>
          <a:xfrm>
            <a:off x="6903720" y="1783080"/>
            <a:ext cx="469087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783080"/>
            <a:ext cx="4690872" cy="475488"/>
          </a:xfrm>
          <a:prstGeom prst="rect">
            <a:avLst/>
          </a:prstGeom>
          <a:solidFill>
            <a:srgbClr val="285B7A"/>
          </a:solidFill>
          <a:ln/>
        </p:spPr>
      </p:sp>
      <p:sp>
        <p:nvSpPr>
          <p:cNvPr id="19" name="Text 17"/>
          <p:cNvSpPr/>
          <p:nvPr/>
        </p:nvSpPr>
        <p:spPr>
          <a:xfrm>
            <a:off x="7068312" y="1801368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68312" y="2313432"/>
            <a:ext cx="4361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AWS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86600" y="260604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(RAG) + pg_trgm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Storage (originals/thumbnails)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67728" y="3493008"/>
            <a:ext cx="4690872" cy="14173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3" name="Shape 21"/>
          <p:cNvSpPr/>
          <p:nvPr/>
        </p:nvSpPr>
        <p:spPr>
          <a:xfrm>
            <a:off x="6903720" y="3429000"/>
            <a:ext cx="469087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3429000"/>
            <a:ext cx="4690872" cy="47548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5" name="Text 23"/>
          <p:cNvSpPr/>
          <p:nvPr/>
        </p:nvSpPr>
        <p:spPr>
          <a:xfrm>
            <a:off x="7068312" y="3447288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Module — FastAPI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68312" y="3959352"/>
            <a:ext cx="4361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 · ~4GB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86600" y="4251960"/>
            <a:ext cx="4325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· manga-ocr · LaMa · render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embedding câu (pgvector)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67728" y="5138928"/>
            <a:ext cx="4690872" cy="84124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9" name="Shape 27"/>
          <p:cNvSpPr/>
          <p:nvPr/>
        </p:nvSpPr>
        <p:spPr>
          <a:xfrm>
            <a:off x="6903720" y="5074920"/>
            <a:ext cx="4690872" cy="841248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507492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API   </a:t>
            </a:r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ngữ cảnh + sinh câu trả lời RAG · xoay vòng nhiều API key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127248" y="3154680"/>
            <a:ext cx="0" cy="274320"/>
          </a:xfrm>
          <a:prstGeom prst="line">
            <a:avLst/>
          </a:prstGeom>
          <a:noFill/>
          <a:ln w="25400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264408" y="3145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cookie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0" y="4114800"/>
            <a:ext cx="1234440" cy="0"/>
          </a:xfrm>
          <a:prstGeom prst="line">
            <a:avLst/>
          </a:prstGeom>
          <a:noFill/>
          <a:ln w="25400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806440" y="3822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235440" y="4846320"/>
            <a:ext cx="0" cy="228600"/>
          </a:xfrm>
          <a:prstGeom prst="line">
            <a:avLst/>
          </a:prstGeom>
          <a:noFill/>
          <a:ln w="25400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PIPELINE DỊCH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ảnh gốc đến bản dịch overlay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2350008"/>
            <a:ext cx="1670304" cy="2148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2286000"/>
            <a:ext cx="1670304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286000"/>
            <a:ext cx="1670304" cy="54864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3408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2340864"/>
            <a:ext cx="1121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3035808"/>
            <a:ext cx="1377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bong bóng thoại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55520" y="3360420"/>
            <a:ext cx="155448" cy="0"/>
          </a:xfrm>
          <a:prstGeom prst="line">
            <a:avLst/>
          </a:prstGeom>
          <a:noFill/>
          <a:ln w="28575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02408" y="2350008"/>
            <a:ext cx="1670304" cy="2148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8400" y="2286000"/>
            <a:ext cx="1670304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38400" y="2286000"/>
            <a:ext cx="1670304" cy="5486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4" name="Text 12"/>
          <p:cNvSpPr/>
          <p:nvPr/>
        </p:nvSpPr>
        <p:spPr>
          <a:xfrm>
            <a:off x="2529840" y="23408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95600" y="2340864"/>
            <a:ext cx="1121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manga-ocr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584704" y="3035808"/>
            <a:ext cx="1377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chữ Nhật trong bbox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26992" y="3360420"/>
            <a:ext cx="155448" cy="0"/>
          </a:xfrm>
          <a:prstGeom prst="line">
            <a:avLst/>
          </a:prstGeom>
          <a:noFill/>
          <a:ln w="28575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73880" y="2350008"/>
            <a:ext cx="1670304" cy="2148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9" name="Shape 17"/>
          <p:cNvSpPr/>
          <p:nvPr/>
        </p:nvSpPr>
        <p:spPr>
          <a:xfrm>
            <a:off x="4309872" y="2286000"/>
            <a:ext cx="1670304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09872" y="2286000"/>
            <a:ext cx="1670304" cy="548640"/>
          </a:xfrm>
          <a:prstGeom prst="rect">
            <a:avLst/>
          </a:prstGeom>
          <a:solidFill>
            <a:srgbClr val="285B7A"/>
          </a:solidFill>
          <a:ln/>
        </p:spPr>
      </p:sp>
      <p:sp>
        <p:nvSpPr>
          <p:cNvPr id="21" name="Text 19"/>
          <p:cNvSpPr/>
          <p:nvPr/>
        </p:nvSpPr>
        <p:spPr>
          <a:xfrm>
            <a:off x="4401312" y="23408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67072" y="2340864"/>
            <a:ext cx="1121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56176" y="3035808"/>
            <a:ext cx="1377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Xoá chữ gốc (inpaint)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98464" y="3360420"/>
            <a:ext cx="155448" cy="0"/>
          </a:xfrm>
          <a:prstGeom prst="line">
            <a:avLst/>
          </a:prstGeom>
          <a:noFill/>
          <a:ln w="28575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45352" y="2350008"/>
            <a:ext cx="1670304" cy="2148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6" name="Shape 24"/>
          <p:cNvSpPr/>
          <p:nvPr/>
        </p:nvSpPr>
        <p:spPr>
          <a:xfrm>
            <a:off x="6181344" y="2286000"/>
            <a:ext cx="1670304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1344" y="2286000"/>
            <a:ext cx="1670304" cy="54864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8" name="Text 26"/>
          <p:cNvSpPr/>
          <p:nvPr/>
        </p:nvSpPr>
        <p:spPr>
          <a:xfrm>
            <a:off x="6272784" y="23408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38544" y="2340864"/>
            <a:ext cx="1121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327648" y="3035808"/>
            <a:ext cx="1377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có ngữ cảnh → Việt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69936" y="3360420"/>
            <a:ext cx="155448" cy="0"/>
          </a:xfrm>
          <a:prstGeom prst="line">
            <a:avLst/>
          </a:prstGeom>
          <a:noFill/>
          <a:ln w="28575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16824" y="2350008"/>
            <a:ext cx="1670304" cy="2148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3" name="Shape 31"/>
          <p:cNvSpPr/>
          <p:nvPr/>
        </p:nvSpPr>
        <p:spPr>
          <a:xfrm>
            <a:off x="8052816" y="2286000"/>
            <a:ext cx="1670304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52816" y="2286000"/>
            <a:ext cx="1670304" cy="548640"/>
          </a:xfrm>
          <a:prstGeom prst="rect">
            <a:avLst/>
          </a:prstGeom>
          <a:solidFill>
            <a:srgbClr val="E0A32E"/>
          </a:solidFill>
          <a:ln/>
        </p:spPr>
      </p:sp>
      <p:sp>
        <p:nvSpPr>
          <p:cNvPr id="35" name="Text 33"/>
          <p:cNvSpPr/>
          <p:nvPr/>
        </p:nvSpPr>
        <p:spPr>
          <a:xfrm>
            <a:off x="8144256" y="23408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10016" y="2340864"/>
            <a:ext cx="1121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199120" y="3035808"/>
            <a:ext cx="1377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Vẽ chữ Việt vào bbox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741408" y="3360420"/>
            <a:ext cx="155448" cy="0"/>
          </a:xfrm>
          <a:prstGeom prst="line">
            <a:avLst/>
          </a:prstGeom>
          <a:noFill/>
          <a:ln w="28575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988296" y="2350008"/>
            <a:ext cx="1670304" cy="214884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40" name="Shape 38"/>
          <p:cNvSpPr/>
          <p:nvPr/>
        </p:nvSpPr>
        <p:spPr>
          <a:xfrm>
            <a:off x="9924288" y="2286000"/>
            <a:ext cx="1670304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24288" y="2286000"/>
            <a:ext cx="1670304" cy="548640"/>
          </a:xfrm>
          <a:prstGeom prst="rect">
            <a:avLst/>
          </a:prstGeom>
          <a:solidFill>
            <a:srgbClr val="3A332C"/>
          </a:solidFill>
          <a:ln/>
        </p:spPr>
      </p:sp>
      <p:sp>
        <p:nvSpPr>
          <p:cNvPr id="42" name="Text 40"/>
          <p:cNvSpPr/>
          <p:nvPr/>
        </p:nvSpPr>
        <p:spPr>
          <a:xfrm>
            <a:off x="10015728" y="23408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381488" y="2340864"/>
            <a:ext cx="1121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0070592" y="3035808"/>
            <a:ext cx="1377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hoá → pgvector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30936" y="4956048"/>
            <a:ext cx="11027664" cy="105156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46" name="Shape 44"/>
          <p:cNvSpPr/>
          <p:nvPr/>
        </p:nvSpPr>
        <p:spPr>
          <a:xfrm>
            <a:off x="566928" y="4892040"/>
            <a:ext cx="11027664" cy="1051560"/>
          </a:xfrm>
          <a:prstGeom prst="rect">
            <a:avLst/>
          </a:prstGeom>
          <a:solidFill>
            <a:srgbClr val="191512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6968" y="4892040"/>
            <a:ext cx="10387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VÀO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trang manga (JPG/PNG/WebP ≤ 10MB)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spc="1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RA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đã dịch (manga-thumbnails) + bubble_data + embeddings · tiến trình realtime qua WebSocket, huỷ hợp tác được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HỎI–ĐÁP THÔNG MINH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Q&amp;A trên nội dung truyện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2167128"/>
            <a:ext cx="2523744" cy="21945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2103120"/>
            <a:ext cx="2523744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322576"/>
            <a:ext cx="566928" cy="56692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322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8096" y="30358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3474720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hỏi về 1 trang / series bằng ngôn ngữ tự nhiên.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27248" y="3200400"/>
            <a:ext cx="237744" cy="0"/>
          </a:xfrm>
          <a:prstGeom prst="line">
            <a:avLst/>
          </a:prstGeom>
          <a:noFill/>
          <a:ln w="28575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65576" y="2167128"/>
            <a:ext cx="2523744" cy="21945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01568" y="2103120"/>
            <a:ext cx="2523744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02736" y="2322576"/>
            <a:ext cx="566928" cy="56692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2322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02736" y="30358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02736" y="3474720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 vector hoá câu hỏi.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61888" y="3200400"/>
            <a:ext cx="237744" cy="0"/>
          </a:xfrm>
          <a:prstGeom prst="line">
            <a:avLst/>
          </a:prstGeom>
          <a:noFill/>
          <a:ln w="28575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0216" y="2167128"/>
            <a:ext cx="2523744" cy="21945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9" name="Shape 17"/>
          <p:cNvSpPr/>
          <p:nvPr/>
        </p:nvSpPr>
        <p:spPr>
          <a:xfrm>
            <a:off x="6236208" y="2103120"/>
            <a:ext cx="2523744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37376" y="2322576"/>
            <a:ext cx="566928" cy="56692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1" name="Text 19"/>
          <p:cNvSpPr/>
          <p:nvPr/>
        </p:nvSpPr>
        <p:spPr>
          <a:xfrm>
            <a:off x="6437376" y="2322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37376" y="30358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pgvector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37376" y="3474720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search top-k đoạn text bong bóng liên quan.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796528" y="3200400"/>
            <a:ext cx="237744" cy="0"/>
          </a:xfrm>
          <a:prstGeom prst="line">
            <a:avLst/>
          </a:prstGeom>
          <a:noFill/>
          <a:ln w="28575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34856" y="2167128"/>
            <a:ext cx="2523744" cy="21945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6" name="Shape 24"/>
          <p:cNvSpPr/>
          <p:nvPr/>
        </p:nvSpPr>
        <p:spPr>
          <a:xfrm>
            <a:off x="9070848" y="2103120"/>
            <a:ext cx="2523744" cy="219456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72016" y="2322576"/>
            <a:ext cx="566928" cy="56692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28" name="Text 26"/>
          <p:cNvSpPr/>
          <p:nvPr/>
        </p:nvSpPr>
        <p:spPr>
          <a:xfrm>
            <a:off x="9272016" y="2322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272016" y="30358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câu trả lời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72016" y="3474720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câu hỏi → Gemini (xoay vòng key) trả lời.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" y="4956048"/>
            <a:ext cx="3493008" cy="10515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2" name="Shape 30"/>
          <p:cNvSpPr/>
          <p:nvPr/>
        </p:nvSpPr>
        <p:spPr>
          <a:xfrm>
            <a:off x="566928" y="4892040"/>
            <a:ext cx="3493008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503834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credit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86384" y="551383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trừ mỗi câu trả lời thành công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98264" y="4956048"/>
            <a:ext cx="3493008" cy="10515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6" name="Shape 34"/>
          <p:cNvSpPr/>
          <p:nvPr/>
        </p:nvSpPr>
        <p:spPr>
          <a:xfrm>
            <a:off x="4334256" y="4892040"/>
            <a:ext cx="3493008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53712" y="503834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nguồn trích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4553712" y="551383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đính kèm đoạn text làm bằng chứng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65592" y="4956048"/>
            <a:ext cx="3493008" cy="10515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40" name="Shape 38"/>
          <p:cNvSpPr/>
          <p:nvPr/>
        </p:nvSpPr>
        <p:spPr>
          <a:xfrm>
            <a:off x="8101584" y="4892040"/>
            <a:ext cx="3493008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503834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5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1536-dim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8321040" y="551383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 trong pgvector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MÔ HÌNH ML &amp; ĐÁNH GIÁ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huấn luyện vượt ngưỡng đặt 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5806440" cy="41148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58064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5681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· Phát hiện bong bóng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1248" y="22677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Manga109-s · test 956 ảnh / 14.130 box · ngưỡng 85%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04088" y="2606040"/>
          <a:ext cx="5532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922008" y="1874520"/>
            <a:ext cx="4736592" cy="197510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0" y="1810512"/>
            <a:ext cx="4736592" cy="1975104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0" y="1810512"/>
            <a:ext cx="146304" cy="197510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2" name="Text 9"/>
          <p:cNvSpPr/>
          <p:nvPr/>
        </p:nvSpPr>
        <p:spPr>
          <a:xfrm>
            <a:off x="7168896" y="1956816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manga-ocr (fine-tuned)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68896" y="2322576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tiếng Nhật · test 14.130 mẫu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68896" y="2679192"/>
            <a:ext cx="12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168896" y="320040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52688" y="2679192"/>
            <a:ext cx="12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93.9%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552688" y="320040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Char-Acc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936480" y="2679192"/>
            <a:ext cx="12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67.5%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936480" y="320040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22008" y="3995928"/>
            <a:ext cx="4736592" cy="197510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1" name="Shape 18"/>
          <p:cNvSpPr/>
          <p:nvPr/>
        </p:nvSpPr>
        <p:spPr>
          <a:xfrm>
            <a:off x="6858000" y="3931920"/>
            <a:ext cx="4736592" cy="1975104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0" y="3931920"/>
            <a:ext cx="146304" cy="1975104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3" name="Text 20"/>
          <p:cNvSpPr/>
          <p:nvPr/>
        </p:nvSpPr>
        <p:spPr>
          <a:xfrm>
            <a:off x="7168896" y="4078224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168896" y="4443984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ngữ cảnh · human-in-the-loop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168896" y="4800600"/>
            <a:ext cx="12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80%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168896" y="5321808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hài lòng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552688" y="4800600"/>
            <a:ext cx="12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Flash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8552688" y="5321808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936480" y="4800600"/>
            <a:ext cx="12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1536-dim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9936480" y="5321808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CÔNG NGHỆ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Ngăn xếp công nghệ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2551176" cy="41605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2551176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10512"/>
            <a:ext cx="2551176" cy="65836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10512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679192"/>
            <a:ext cx="2148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+ Framer Motion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offline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56432" y="1874520"/>
            <a:ext cx="2551176" cy="41605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0" name="Shape 8"/>
          <p:cNvSpPr/>
          <p:nvPr/>
        </p:nvSpPr>
        <p:spPr>
          <a:xfrm>
            <a:off x="3392424" y="1810512"/>
            <a:ext cx="2551176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2424" y="1810512"/>
            <a:ext cx="2551176" cy="658368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304" y="1810512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2679192"/>
            <a:ext cx="2148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3.11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/ Gunicorn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SlowAPI rate-limit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+ OpenTelemetry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81928" y="1874520"/>
            <a:ext cx="2551176" cy="41605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810512"/>
            <a:ext cx="2551176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810512"/>
            <a:ext cx="2551176" cy="65836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810512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7376" y="2679192"/>
            <a:ext cx="2148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manga-ocr (fine-tuned)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 inpaint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07424" y="1874520"/>
            <a:ext cx="2551176" cy="41605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0" name="Shape 18"/>
          <p:cNvSpPr/>
          <p:nvPr/>
        </p:nvSpPr>
        <p:spPr>
          <a:xfrm>
            <a:off x="9043416" y="1810512"/>
            <a:ext cx="2551176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3416" y="1810512"/>
            <a:ext cx="2551176" cy="658368"/>
          </a:xfrm>
          <a:prstGeom prst="rect">
            <a:avLst/>
          </a:prstGeom>
          <a:solidFill>
            <a:srgbClr val="285B7A"/>
          </a:solidFill>
          <a:ln/>
        </p:spPr>
      </p:sp>
      <p:sp>
        <p:nvSpPr>
          <p:cNvPr id="22" name="Text 20"/>
          <p:cNvSpPr/>
          <p:nvPr/>
        </p:nvSpPr>
        <p:spPr>
          <a:xfrm>
            <a:off x="9226296" y="1810512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&amp; Hạ tầng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62872" y="2679192"/>
            <a:ext cx="2148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· pg_trgm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Render · HF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TÍNH NĂNG NỔI BẬT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Ngoài lõi dịch — một hệ sinh thái đầy đủ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66544"/>
            <a:ext cx="420624" cy="420624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9888" y="2048256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nâng cao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chế độ đọc, phím tắt, vuốt mobile, từ điển bong bóng, cảnh báo độ tin cậy thấp.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392168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1" name="Shape 9"/>
          <p:cNvSpPr/>
          <p:nvPr/>
        </p:nvSpPr>
        <p:spPr>
          <a:xfrm>
            <a:off x="4328160" y="1810512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5904" y="2066544"/>
            <a:ext cx="420624" cy="42062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3" name="Text 11"/>
          <p:cNvSpPr/>
          <p:nvPr/>
        </p:nvSpPr>
        <p:spPr>
          <a:xfrm>
            <a:off x="4565904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51120" y="2048256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QC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84192" y="2651760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đính per-bubble (approve/reject), tìm–thay thế hàng loạt, phản hồi 👍/👎.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8153400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7" name="Shape 15"/>
          <p:cNvSpPr/>
          <p:nvPr/>
        </p:nvSpPr>
        <p:spPr>
          <a:xfrm>
            <a:off x="8089392" y="1810512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7136" y="2066544"/>
            <a:ext cx="420624" cy="420624"/>
          </a:xfrm>
          <a:prstGeom prst="rect">
            <a:avLst/>
          </a:prstGeom>
          <a:solidFill>
            <a:srgbClr val="285B7A"/>
          </a:solidFill>
          <a:ln/>
        </p:spPr>
      </p:sp>
      <p:sp>
        <p:nvSpPr>
          <p:cNvPr id="19" name="Text 17"/>
          <p:cNvSpPr/>
          <p:nvPr/>
        </p:nvSpPr>
        <p:spPr>
          <a:xfrm>
            <a:off x="8327136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12352" y="2048256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 viện &amp; chia sẻ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45424" y="2651760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bản chương công khai, đọc ẩn danh, chia sẻ link TTL + OG image.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630936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3941064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4197096"/>
            <a:ext cx="420624" cy="420624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89888" y="4178808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Cộng đồng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4782312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 đàn (mention, đính kèm, vote), bình luận chương, hồ sơ /u/{username}.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4392168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9" name="Shape 27"/>
          <p:cNvSpPr/>
          <p:nvPr/>
        </p:nvSpPr>
        <p:spPr>
          <a:xfrm>
            <a:off x="4328160" y="3941064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65904" y="4197096"/>
            <a:ext cx="420624" cy="420624"/>
          </a:xfrm>
          <a:prstGeom prst="rect">
            <a:avLst/>
          </a:prstGeom>
          <a:solidFill>
            <a:srgbClr val="E0A32E"/>
          </a:solidFill>
          <a:ln/>
        </p:spPr>
      </p:sp>
      <p:sp>
        <p:nvSpPr>
          <p:cNvPr id="31" name="Text 29"/>
          <p:cNvSpPr/>
          <p:nvPr/>
        </p:nvSpPr>
        <p:spPr>
          <a:xfrm>
            <a:off x="4565904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151120" y="4178808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(Wibu)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84192" y="4782312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Bookmark, rating, reading list, mục tiêu, XP/level, thành tựu + thông báo.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8153400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5" name="Shape 33"/>
          <p:cNvSpPr/>
          <p:nvPr/>
        </p:nvSpPr>
        <p:spPr>
          <a:xfrm>
            <a:off x="8089392" y="3941064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7136" y="4197096"/>
            <a:ext cx="420624" cy="420624"/>
          </a:xfrm>
          <a:prstGeom prst="rect">
            <a:avLst/>
          </a:prstGeom>
          <a:solidFill>
            <a:srgbClr val="3A332C"/>
          </a:solidFill>
          <a:ln/>
        </p:spPr>
      </p:sp>
      <p:sp>
        <p:nvSpPr>
          <p:cNvPr id="37" name="Text 35"/>
          <p:cNvSpPr/>
          <p:nvPr/>
        </p:nvSpPr>
        <p:spPr>
          <a:xfrm>
            <a:off x="8327136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912352" y="4178808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&amp; thanh toán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45424" y="4782312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5/ngày; gói basic/pro/premium; Stripe checkout/webhook; điểm danh streak.</a:t>
            </a:r>
            <a:endParaRPr lang="en-US" sz="1230" dirty="0"/>
          </a:p>
        </p:txBody>
      </p:sp>
      <p:sp>
        <p:nvSpPr>
          <p:cNvPr id="40" name="Text 38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DEMO · LUỒNG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 &amp; Upload → Dịch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837944"/>
            <a:ext cx="5285232" cy="40233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83080"/>
            <a:ext cx="5285232" cy="4023360"/>
          </a:xfrm>
          <a:prstGeom prst="rect">
            <a:avLst/>
          </a:prstGeom>
          <a:solidFill>
            <a:srgbClr val="F4EEE3"/>
          </a:solidFill>
          <a:ln w="15875">
            <a:solidFill>
              <a:srgbClr val="19151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" y="329184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373989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CHÈN ẢNH CHỤP MÀN HÌNH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401421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(Trang chủ)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5852160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+ nền anime động + 'Tiếp tục đọc'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64224" y="1837944"/>
            <a:ext cx="5285232" cy="40233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783080"/>
            <a:ext cx="5285232" cy="4023360"/>
          </a:xfrm>
          <a:prstGeom prst="rect">
            <a:avLst/>
          </a:prstGeom>
          <a:solidFill>
            <a:srgbClr val="F4EEE3"/>
          </a:solidFill>
          <a:ln w="15875">
            <a:solidFill>
              <a:srgbClr val="19151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309360" y="329184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9360" y="373989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CHÈN ẢNH CHỤP MÀN HÌNH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401421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/upload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5852160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Kéo-thả trang manga Nhật, chọn cấu hình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nhấn khi demo:  </a:t>
            </a:r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→ kéo-thả 1 trang → pipeline chạy realtime (YOLOv8 → manga-ocr → LaMa → Gemini).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DEMO · LUỒNG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overlay &amp; Studio QC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837944"/>
            <a:ext cx="5285232" cy="40233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83080"/>
            <a:ext cx="5285232" cy="4023360"/>
          </a:xfrm>
          <a:prstGeom prst="rect">
            <a:avLst/>
          </a:prstGeom>
          <a:solidFill>
            <a:srgbClr val="F4EEE3"/>
          </a:solidFill>
          <a:ln w="15875">
            <a:solidFill>
              <a:srgbClr val="19151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" y="329184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373989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CHÈN ẢNH CHỤP MÀN HÌNH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401421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/reader?page=…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5852160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dịch phủ bong bóng, bật/tắt so sánh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64224" y="1837944"/>
            <a:ext cx="5285232" cy="40233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783080"/>
            <a:ext cx="5285232" cy="4023360"/>
          </a:xfrm>
          <a:prstGeom prst="rect">
            <a:avLst/>
          </a:prstGeom>
          <a:solidFill>
            <a:srgbClr val="F4EEE3"/>
          </a:solidFill>
          <a:ln w="15875">
            <a:solidFill>
              <a:srgbClr val="19151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309360" y="329184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9360" y="373989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CHÈN ẢNH CHỤP MÀN HÌNH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401421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/studio (QC)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5852160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đính per-bubble, tìm–thay thế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nhấn khi demo:  </a:t>
            </a:r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Reader xem overlay tiếng Việt; bật/tắt bản gốc; mở từ điển bong bóng; hiệu đính trong Studio.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DEMO · LUỒNG B + Q&amp;A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cả chương · RAG Q&amp;A · Thư viện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837944"/>
            <a:ext cx="5285232" cy="40233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83080"/>
            <a:ext cx="5285232" cy="4023360"/>
          </a:xfrm>
          <a:prstGeom prst="rect">
            <a:avLst/>
          </a:prstGeom>
          <a:solidFill>
            <a:srgbClr val="F4EEE3"/>
          </a:solidFill>
          <a:ln w="15875">
            <a:solidFill>
              <a:srgbClr val="19151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" y="329184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373989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CHÈN ẢNH CHỤP MÀN HÌNH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401421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/upload (batch) · /qa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5852160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nhiều trang + tiến trình x/N realtime; hỏi–đáp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64224" y="1837944"/>
            <a:ext cx="5285232" cy="40233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783080"/>
            <a:ext cx="5285232" cy="4023360"/>
          </a:xfrm>
          <a:prstGeom prst="rect">
            <a:avLst/>
          </a:prstGeom>
          <a:solidFill>
            <a:srgbClr val="F4EEE3"/>
          </a:solidFill>
          <a:ln w="15875">
            <a:solidFill>
              <a:srgbClr val="19151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309360" y="329184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9360" y="373989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E6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CHÈN ẢNH CHỤP MÀN HÌNH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401421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/library · /admin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5852160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viện công khai; bảng điều khiển quản trị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nhấn khi demo:  </a:t>
            </a:r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cả chương xử lý tuần tự; hỏi AI về nội dung; xuất bản lên thư viện; xem admin dashboard.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QUY TRÌNH PHÁT TRIỂN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 rút gọn + Scrum theo sprint 2 tuần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2592324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2592324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56816"/>
            <a:ext cx="22265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2194560"/>
            <a:ext cx="2226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Inception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578608"/>
            <a:ext cx="2226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kế hoạch, weekly report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7540" y="2496312"/>
            <a:ext cx="182880" cy="0"/>
          </a:xfrm>
          <a:prstGeom prst="line">
            <a:avLst/>
          </a:prstGeom>
          <a:noFill/>
          <a:ln w="25400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42716" y="1874520"/>
            <a:ext cx="2592324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1" name="Shape 9"/>
          <p:cNvSpPr/>
          <p:nvPr/>
        </p:nvSpPr>
        <p:spPr>
          <a:xfrm>
            <a:off x="3378708" y="1810512"/>
            <a:ext cx="2592324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1588" y="1956816"/>
            <a:ext cx="22265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 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61588" y="2194560"/>
            <a:ext cx="2226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1588" y="2578608"/>
            <a:ext cx="2226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case, kiến trúc, UI prototype, test plan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2496312"/>
            <a:ext cx="182880" cy="0"/>
          </a:xfrm>
          <a:prstGeom prst="line">
            <a:avLst/>
          </a:prstGeom>
          <a:noFill/>
          <a:ln w="25400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54496" y="1874520"/>
            <a:ext cx="2592324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0488" y="1810512"/>
            <a:ext cx="2592324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1956816"/>
            <a:ext cx="22265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73368" y="2194560"/>
            <a:ext cx="2226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73368" y="2578608"/>
            <a:ext cx="2226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test case, defect, báo cáo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01100" y="2496312"/>
            <a:ext cx="182880" cy="0"/>
          </a:xfrm>
          <a:prstGeom prst="line">
            <a:avLst/>
          </a:prstGeom>
          <a:noFill/>
          <a:ln w="25400">
            <a:solidFill>
              <a:srgbClr val="191512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66276" y="1874520"/>
            <a:ext cx="2592324" cy="13716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3" name="Shape 21"/>
          <p:cNvSpPr/>
          <p:nvPr/>
        </p:nvSpPr>
        <p:spPr>
          <a:xfrm>
            <a:off x="9002268" y="1810512"/>
            <a:ext cx="2592324" cy="137160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5148" y="1956816"/>
            <a:ext cx="22265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 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85148" y="2194560"/>
            <a:ext cx="2226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85148" y="2578608"/>
            <a:ext cx="2226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khai, demo, nộp bài cuối kỳ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" y="3465576"/>
            <a:ext cx="5212080" cy="274320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" y="3401568"/>
            <a:ext cx="5212080" cy="2743200"/>
          </a:xfrm>
          <a:prstGeom prst="rect">
            <a:avLst/>
          </a:prstGeom>
          <a:solidFill>
            <a:srgbClr val="191512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SCRUM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9536" y="39776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làm gì từ tuần trước?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gặp vướng mắc gì?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tới sẽ hoàn thành gì?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9536" y="5486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= 2 tuần · PR review trước khi merge · CI xanh mới nộp.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53328" y="3465576"/>
            <a:ext cx="5605272" cy="2743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3" name="Shape 31"/>
          <p:cNvSpPr/>
          <p:nvPr/>
        </p:nvSpPr>
        <p:spPr>
          <a:xfrm>
            <a:off x="5989320" y="3401568"/>
            <a:ext cx="5605272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611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NHÓM (chính + backup)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4014216"/>
            <a:ext cx="109728" cy="2743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6" name="Text 34"/>
          <p:cNvSpPr/>
          <p:nvPr/>
        </p:nvSpPr>
        <p:spPr>
          <a:xfrm>
            <a:off x="6419088" y="3977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 / PM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686800" y="3977640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hoạch, phân công, weekly report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7920" y="4434840"/>
            <a:ext cx="109728" cy="2743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9" name="Text 37"/>
          <p:cNvSpPr/>
          <p:nvPr/>
        </p:nvSpPr>
        <p:spPr>
          <a:xfrm>
            <a:off x="6419088" y="4398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686800" y="4398264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&amp; rà soát yêu cầu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17920" y="4855464"/>
            <a:ext cx="109728" cy="2743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42" name="Text 40"/>
          <p:cNvSpPr/>
          <p:nvPr/>
        </p:nvSpPr>
        <p:spPr>
          <a:xfrm>
            <a:off x="6419088" y="4818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686800" y="481888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trúc, UI, tài liệu SAD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17920" y="5276088"/>
            <a:ext cx="109728" cy="27432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45" name="Text 43"/>
          <p:cNvSpPr/>
          <p:nvPr/>
        </p:nvSpPr>
        <p:spPr>
          <a:xfrm>
            <a:off x="6419088" y="5239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Implementer ×3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686800" y="523951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unit test, review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17920" y="5696712"/>
            <a:ext cx="109728" cy="2743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48" name="Text 46"/>
          <p:cNvSpPr/>
          <p:nvPr/>
        </p:nvSpPr>
        <p:spPr>
          <a:xfrm>
            <a:off x="6419088" y="5660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686800" y="5660136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plan, test case, system test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KIỂM THỬ &amp; 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lượng được kiểm thử &amp; tự động hoá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5943600" cy="416052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594360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5681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kiểm thử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" y="2468880"/>
            <a:ext cx="457200" cy="45720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35608" y="24323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/ Component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35608" y="27614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React Testing Library (frontend)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3310128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35608" y="327355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35608" y="36027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respx (mock Supabase/Gemini)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" y="4151376"/>
            <a:ext cx="457200" cy="457200"/>
          </a:xfrm>
          <a:prstGeom prst="rect">
            <a:avLst/>
          </a:prstGeom>
          <a:solidFill>
            <a:srgbClr val="285B7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35608" y="41148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35608" y="4443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Playwright: auth, home, protected, mobile, forum, edge-cases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1248" y="4992624"/>
            <a:ext cx="457200" cy="45720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992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35608" y="49560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Tĩnh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35608" y="52852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 --noEmit · ESLint · Python type hints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76288" y="1874520"/>
            <a:ext cx="4782312" cy="416052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24" name="Shape 22"/>
          <p:cNvSpPr/>
          <p:nvPr/>
        </p:nvSpPr>
        <p:spPr>
          <a:xfrm>
            <a:off x="6812280" y="1810512"/>
            <a:ext cx="4782312" cy="4160520"/>
          </a:xfrm>
          <a:prstGeom prst="rect">
            <a:avLst/>
          </a:prstGeom>
          <a:solidFill>
            <a:srgbClr val="191512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· 5 JOB SONG SONG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040880" y="2423160"/>
            <a:ext cx="4325112" cy="530352"/>
          </a:xfrm>
          <a:prstGeom prst="rect">
            <a:avLst/>
          </a:prstGeom>
          <a:solidFill>
            <a:srgbClr val="3A332C"/>
          </a:solidFill>
          <a:ln w="12700">
            <a:solidFill>
              <a:srgbClr val="4A40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242316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89520" y="242316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 (tsc)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22992" y="242316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0" y="3081528"/>
            <a:ext cx="4325112" cy="530352"/>
          </a:xfrm>
          <a:prstGeom prst="rect">
            <a:avLst/>
          </a:prstGeom>
          <a:solidFill>
            <a:srgbClr val="3A332C"/>
          </a:solidFill>
          <a:ln w="12700">
            <a:solidFill>
              <a:srgbClr val="4A40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308152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89520" y="308152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(ESLint)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222992" y="308152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40880" y="3739896"/>
            <a:ext cx="4325112" cy="530352"/>
          </a:xfrm>
          <a:prstGeom prst="rect">
            <a:avLst/>
          </a:prstGeom>
          <a:solidFill>
            <a:srgbClr val="3A332C"/>
          </a:solidFill>
          <a:ln w="12700">
            <a:solidFill>
              <a:srgbClr val="4A40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78040" y="373989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89520" y="373989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22992" y="373989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40880" y="4398264"/>
            <a:ext cx="4325112" cy="530352"/>
          </a:xfrm>
          <a:prstGeom prst="rect">
            <a:avLst/>
          </a:prstGeom>
          <a:solidFill>
            <a:srgbClr val="3A332C"/>
          </a:solidFill>
          <a:ln w="12700">
            <a:solidFill>
              <a:srgbClr val="4A40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78040" y="439826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89520" y="439826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222992" y="439826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40880" y="5056632"/>
            <a:ext cx="4325112" cy="530352"/>
          </a:xfrm>
          <a:prstGeom prst="rect">
            <a:avLst/>
          </a:prstGeom>
          <a:solidFill>
            <a:srgbClr val="3A332C"/>
          </a:solidFill>
          <a:ln w="12700">
            <a:solidFill>
              <a:srgbClr val="4A40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78040" y="505663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89520" y="50566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pytest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222992" y="505663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40880" y="5623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PR phải review + CI xanh trước khi merge vào main.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BẢO MẬT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thủ nhiều lớp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48256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08176" y="2048256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thực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 (không lộ token cho JS); auto-refresh; Google OAuth.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392168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1" name="Shape 9"/>
          <p:cNvSpPr/>
          <p:nvPr/>
        </p:nvSpPr>
        <p:spPr>
          <a:xfrm>
            <a:off x="4328160" y="1810512"/>
            <a:ext cx="3505200" cy="196596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5904" y="2048256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3" name="Text 11"/>
          <p:cNvSpPr/>
          <p:nvPr/>
        </p:nvSpPr>
        <p:spPr>
          <a:xfrm>
            <a:off x="4565904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69408" y="2048256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quyền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84192" y="2651760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user/admin ở API + RLS trên mọi bảng dữ liệu người dùng.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8153400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7" name="Shape 15"/>
          <p:cNvSpPr/>
          <p:nvPr/>
        </p:nvSpPr>
        <p:spPr>
          <a:xfrm>
            <a:off x="8089392" y="1810512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7136" y="2048256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9" name="Text 17"/>
          <p:cNvSpPr/>
          <p:nvPr/>
        </p:nvSpPr>
        <p:spPr>
          <a:xfrm>
            <a:off x="8327136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30640" y="2048256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Chống lạm dụng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45424" y="2651760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(SlowAPI) theo endpoint; captcha Turnstile ở đăng ký / quên MK.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630936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3941064"/>
            <a:ext cx="3505200" cy="196596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4178808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08176" y="4178808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&amp; CSP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4782312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+ CSP chặt trên mọi response, kể cả /docs.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4392168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9" name="Shape 27"/>
          <p:cNvSpPr/>
          <p:nvPr/>
        </p:nvSpPr>
        <p:spPr>
          <a:xfrm>
            <a:off x="4328160" y="3941064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65904" y="4178808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1" name="Text 29"/>
          <p:cNvSpPr/>
          <p:nvPr/>
        </p:nvSpPr>
        <p:spPr>
          <a:xfrm>
            <a:off x="4565904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169408" y="4178808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upload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84192" y="4782312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verify() chống giả mạo MIME; chỉ nhận JPEG/PNG/WebP thật.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8153400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5" name="Shape 33"/>
          <p:cNvSpPr/>
          <p:nvPr/>
        </p:nvSpPr>
        <p:spPr>
          <a:xfrm>
            <a:off x="8089392" y="3941064"/>
            <a:ext cx="3505200" cy="196596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7136" y="4178808"/>
            <a:ext cx="457200" cy="457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7" name="Text 35"/>
          <p:cNvSpPr/>
          <p:nvPr/>
        </p:nvSpPr>
        <p:spPr>
          <a:xfrm>
            <a:off x="8327136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930640" y="4178808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Chống SSRF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45424" y="4782312"/>
            <a:ext cx="2993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chỉ nhận domain trong allowlist khi nhập từ nguồn ngoài.</a:t>
            </a:r>
            <a:endParaRPr lang="en-US" sz="1230" dirty="0"/>
          </a:p>
        </p:txBody>
      </p:sp>
      <p:sp>
        <p:nvSpPr>
          <p:cNvPr id="40" name="Text 38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TRIỂN KHAI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nền tảng, tự động deploy từ main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2551176" cy="2743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2551176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10512"/>
            <a:ext cx="2551176" cy="603504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10512"/>
            <a:ext cx="2221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56032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3044952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03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350215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khi push main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56432" y="1874520"/>
            <a:ext cx="2551176" cy="2743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2" name="Shape 10"/>
          <p:cNvSpPr/>
          <p:nvPr/>
        </p:nvSpPr>
        <p:spPr>
          <a:xfrm>
            <a:off x="3392424" y="1810512"/>
            <a:ext cx="2551176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2424" y="1810512"/>
            <a:ext cx="2551176" cy="603504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1810512"/>
            <a:ext cx="2221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75304" y="256032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75304" y="3044952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· Docker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75304" y="350215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render.yaml · free tier 512MB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81928" y="1874520"/>
            <a:ext cx="2551176" cy="2743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1810512"/>
            <a:ext cx="2551176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810512"/>
            <a:ext cx="2551176" cy="603504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1810512"/>
            <a:ext cx="2221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Module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56032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3044952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· ~4GB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50215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Docker thủ công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07424" y="1874520"/>
            <a:ext cx="2551176" cy="274320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6" name="Shape 24"/>
          <p:cNvSpPr/>
          <p:nvPr/>
        </p:nvSpPr>
        <p:spPr>
          <a:xfrm>
            <a:off x="9043416" y="1810512"/>
            <a:ext cx="2551176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43416" y="1810512"/>
            <a:ext cx="2551176" cy="603504"/>
          </a:xfrm>
          <a:prstGeom prst="rect">
            <a:avLst/>
          </a:prstGeom>
          <a:solidFill>
            <a:srgbClr val="285B7A"/>
          </a:solidFill>
          <a:ln/>
        </p:spPr>
      </p:sp>
      <p:sp>
        <p:nvSpPr>
          <p:cNvPr id="28" name="Text 26"/>
          <p:cNvSpPr/>
          <p:nvPr/>
        </p:nvSpPr>
        <p:spPr>
          <a:xfrm>
            <a:off x="9208008" y="1810512"/>
            <a:ext cx="2221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+ Storage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26296" y="256032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226296" y="3044952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us-east-1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26296" y="350215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 + Auth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" y="4956048"/>
            <a:ext cx="11027664" cy="10515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" y="4892040"/>
            <a:ext cx="11027664" cy="105156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" y="4892040"/>
            <a:ext cx="10387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hành:  </a:t>
            </a:r>
            <a:pPr indent="0" marL="0">
              <a:buNone/>
            </a:pPr>
            <a:r>
              <a:rPr lang="en-US" sz="12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 ping chống ngủ (Render/HF) · health check /health &amp; /health/deep · Sentry + OpenTelemetry giám sát · Supabase PITR backup 7 ngày.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· NHÌN THẲNG VÀO HẠN CHẾ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&amp; lỗi đã biết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5943600" cy="987552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594360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920240"/>
            <a:ext cx="5504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6384" y="2231136"/>
            <a:ext cx="5504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free &amp; HF Spaces ngủ sau khi rảnh → lần đầu chậm 15–60s (đã có keep-alive).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" y="2971800"/>
            <a:ext cx="5943600" cy="987552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907792"/>
            <a:ext cx="594360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017520"/>
            <a:ext cx="5504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 Gemini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6384" y="3328416"/>
            <a:ext cx="5504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giới hạn RPD → xoay vòng key + throttle + cache; cao điểm vẫn có thể bị giới hạn.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" y="4069080"/>
            <a:ext cx="5943600" cy="987552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4005072"/>
            <a:ext cx="594360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4114800"/>
            <a:ext cx="5504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chữ hiệu ứng (SFX)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86384" y="4425696"/>
            <a:ext cx="5504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viết tay / hiệu ứng độ chính xác giảm; bong bóng SFX có thể bị bỏ qua.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" y="5166360"/>
            <a:ext cx="5943600" cy="987552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5102352"/>
            <a:ext cx="594360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5212080"/>
            <a:ext cx="5504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 cục chữ Việt dài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86384" y="5522976"/>
            <a:ext cx="5504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Bong bóng nhỏ phải thu nhỏ cỡ chữ hoặc cắt bớt (có tooltip đầy đủ).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76288" y="1874520"/>
            <a:ext cx="4782312" cy="440740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810512"/>
            <a:ext cx="4782312" cy="4407408"/>
          </a:xfrm>
          <a:prstGeom prst="rect">
            <a:avLst/>
          </a:prstGeom>
          <a:solidFill>
            <a:srgbClr val="191512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ĐÃ BIẾT (đang xử lý)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2423160"/>
            <a:ext cx="43251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phiên hết hạn giữa chừng → đôi khi cần tải lại trang (đang hoàn thiện auto-refresh).</a:t>
            </a:r>
            <a:endParaRPr lang="en-US" sz="128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mất gói khi mạng chập chờn → fallback polling, tiến trình có thể 'nhảy' %.</a:t>
            </a:r>
            <a:endParaRPr lang="en-US" sz="128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URL ảnh có thể hết hạn với phiên đọc rất dài → đã thêm retry tải ảnh.</a:t>
            </a:r>
            <a:endParaRPr lang="en-US" sz="128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mobile cũ: nền anime động có thể tụt FPS (tắt được trong cài đặt).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· HƯỚNG PHÁT TRIỂN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tiếp theo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0512"/>
            <a:ext cx="3505200" cy="196596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53312" y="2048256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&amp; dịch tốt hơn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706624"/>
            <a:ext cx="299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thêm cho SFX/chữ viết tay; hỗ trợ thêm cặp ngôn ngữ (Hàn, Anh).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4392168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0" name="Shape 8"/>
          <p:cNvSpPr/>
          <p:nvPr/>
        </p:nvSpPr>
        <p:spPr>
          <a:xfrm>
            <a:off x="4328160" y="1810512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7616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114544" y="2048256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Sắp xếp bong bóng RTL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84192" y="2706624"/>
            <a:ext cx="299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thứ tự đọc phải-sang-trái cho bố cục phức tạp.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8153400" y="1874520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15" name="Shape 13"/>
          <p:cNvSpPr/>
          <p:nvPr/>
        </p:nvSpPr>
        <p:spPr>
          <a:xfrm>
            <a:off x="8089392" y="1810512"/>
            <a:ext cx="3505200" cy="196596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8848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875776" y="2048256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Nâng độ sẵn sàng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45424" y="2706624"/>
            <a:ext cx="299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tier trả phí giảm cold start; hàng đợi tác vụ chuyên dụng.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30936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941064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4142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353312" y="4178808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 nhân hoá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837176"/>
            <a:ext cx="299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truyện theo lịch sử đọc; cải thiện RAG đa-trang / cả series.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4392168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25" name="Shape 23"/>
          <p:cNvSpPr/>
          <p:nvPr/>
        </p:nvSpPr>
        <p:spPr>
          <a:xfrm>
            <a:off x="4328160" y="3941064"/>
            <a:ext cx="3505200" cy="1965960"/>
          </a:xfrm>
          <a:prstGeom prst="rect">
            <a:avLst/>
          </a:prstGeom>
          <a:solidFill>
            <a:srgbClr val="F4EEE3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7616" y="4142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114544" y="4178808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duyệt &amp; bản quyền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84192" y="4837176"/>
            <a:ext cx="299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chống vi phạm bản quyền, quy trình DMCA rõ ràng.</a:t>
            </a:r>
            <a:endParaRPr lang="en-US" sz="1230" dirty="0"/>
          </a:p>
        </p:txBody>
      </p:sp>
      <p:sp>
        <p:nvSpPr>
          <p:cNvPr id="29" name="Shape 27"/>
          <p:cNvSpPr/>
          <p:nvPr/>
        </p:nvSpPr>
        <p:spPr>
          <a:xfrm>
            <a:off x="8153400" y="4005072"/>
            <a:ext cx="3505200" cy="1965960"/>
          </a:xfrm>
          <a:prstGeom prst="rect">
            <a:avLst/>
          </a:prstGeom>
          <a:solidFill>
            <a:srgbClr val="191512"/>
          </a:solidFill>
          <a:ln/>
        </p:spPr>
      </p:sp>
      <p:sp>
        <p:nvSpPr>
          <p:cNvPr id="30" name="Shape 28"/>
          <p:cNvSpPr/>
          <p:nvPr/>
        </p:nvSpPr>
        <p:spPr>
          <a:xfrm>
            <a:off x="8089392" y="3941064"/>
            <a:ext cx="3505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5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8848" y="4142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875776" y="4178808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di động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45424" y="4837176"/>
            <a:ext cx="299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PWA thành app; đọc offline mượt hơn.</a:t>
            </a:r>
            <a:endParaRPr lang="en-US" sz="1230" dirty="0"/>
          </a:p>
        </p:txBody>
      </p:sp>
      <p:sp>
        <p:nvSpPr>
          <p:cNvPr id="34" name="Text 3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9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· KẾT LUẬN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868680"/>
            <a:ext cx="10844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sản phẩm AI hoàn chỉnh, chạy thật.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3816" y="2075688"/>
            <a:ext cx="2505456" cy="1417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011680"/>
            <a:ext cx="2505456" cy="1417320"/>
          </a:xfrm>
          <a:prstGeom prst="rect">
            <a:avLst/>
          </a:prstGeom>
          <a:solidFill>
            <a:srgbClr val="3A332C"/>
          </a:solidFill>
          <a:ln w="19050">
            <a:solidFill>
              <a:srgbClr val="4A40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17627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86968" y="285292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vụ triển khai độc lập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93592" y="2075688"/>
            <a:ext cx="2505456" cy="1417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3529584" y="2011680"/>
            <a:ext cx="2505456" cy="1417320"/>
          </a:xfrm>
          <a:prstGeom prst="rect">
            <a:avLst/>
          </a:prstGeom>
          <a:solidFill>
            <a:srgbClr val="3A332C"/>
          </a:solidFill>
          <a:ln w="19050">
            <a:solidFill>
              <a:srgbClr val="4A4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217627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95.3%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66744" y="285292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phát hiện bong bóng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73368" y="2075688"/>
            <a:ext cx="2505456" cy="1417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2011680"/>
            <a:ext cx="2505456" cy="1417320"/>
          </a:xfrm>
          <a:prstGeom prst="rect">
            <a:avLst/>
          </a:prstGeom>
          <a:solidFill>
            <a:srgbClr val="3A332C"/>
          </a:solidFill>
          <a:ln w="19050">
            <a:solidFill>
              <a:srgbClr val="4A40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7627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46520" y="285292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OCR tiếng Nhật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53144" y="2075688"/>
            <a:ext cx="2505456" cy="1417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9089136" y="2011680"/>
            <a:ext cx="2505456" cy="1417320"/>
          </a:xfrm>
          <a:prstGeom prst="rect">
            <a:avLst/>
          </a:prstGeom>
          <a:solidFill>
            <a:srgbClr val="3A332C"/>
          </a:solidFill>
          <a:ln w="19050">
            <a:solidFill>
              <a:srgbClr val="4A40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26296" y="217627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226296" y="285292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yêu cầu chức năng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" y="3813048"/>
            <a:ext cx="10844784" cy="2286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3749040"/>
            <a:ext cx="10844784" cy="2286000"/>
          </a:xfrm>
          <a:prstGeom prst="rect">
            <a:avLst/>
          </a:prstGeom>
          <a:solidFill>
            <a:srgbClr val="3A332C"/>
          </a:solidFill>
          <a:ln w="19050">
            <a:solidFill>
              <a:srgbClr val="4A40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3950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ĐẠT ĐƯỢC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4315968"/>
            <a:ext cx="10204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AI end-to-end: phát hiện → OCR → xoá nền → dịch ngữ cảnh → RAG Q&amp;A.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production: microservice, WebSocket, bảo mật nhiều lớp, CI 5 job, giám sát.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quy trình CNPM: RUP rút gọn + Scrum, tài liệu SAD/SRS/SDP đồng bộ code thật.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</a:t>
            </a:r>
            <a:pPr indent="0" marL="0">
              <a:buNone/>
            </a:pPr>
            <a:r>
              <a:rPr lang="en-US" sz="900" dirty="0">
                <a:solidFill>
                  <a:srgbClr val="9A9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Nhóm 1 · CSC10011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14432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9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120640"/>
            <a:ext cx="822960" cy="822960"/>
          </a:xfrm>
          <a:prstGeom prst="rect">
            <a:avLst/>
          </a:prstGeom>
          <a:solidFill>
            <a:srgbClr val="E0A32E"/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5440680"/>
            <a:ext cx="822960" cy="822960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63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THẦY &amp; CÁC BẠN ĐÃ LẮNG NGHE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32688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&amp; Thảo luận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024128" y="3063240"/>
            <a:ext cx="5486400" cy="18288"/>
          </a:xfrm>
          <a:prstGeom prst="rect">
            <a:avLst/>
          </a:prstGeom>
          <a:solidFill>
            <a:srgbClr val="D0311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3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StoryLens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storylens-api.onrender.com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480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MODULE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huynhtrungkiet09032005-ai-storylen.hf.space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KHOẢN DEMO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demo.pa3@storylens.app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5577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5577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— CSC10011 · GVHD: GS.TS Nguyễn Văn Vũ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HCMUS · CSC10011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StoryLens — Báo cáo cuối kỳ</dc:title>
  <dc:subject>PptxGenJS Presentation</dc:subject>
  <dc:creator>Nhóm 1 – StoryLens</dc:creator>
  <cp:lastModifiedBy>Nhóm 1 – StoryLens</cp:lastModifiedBy>
  <cp:revision>1</cp:revision>
  <dcterms:created xsi:type="dcterms:W3CDTF">2026-07-05T11:00:12Z</dcterms:created>
  <dcterms:modified xsi:type="dcterms:W3CDTF">2026-07-05T11:00:12Z</dcterms:modified>
</cp:coreProperties>
</file>